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1" i="0">
                <a:solidFill>
                  <a:srgbClr val="F4F4F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1" i="0">
                <a:solidFill>
                  <a:srgbClr val="F4F4F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1" i="0">
                <a:solidFill>
                  <a:srgbClr val="F4F4F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1" i="0">
                <a:solidFill>
                  <a:srgbClr val="F4F4F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9468" y="689292"/>
            <a:ext cx="4618355" cy="1038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1" i="0">
                <a:solidFill>
                  <a:srgbClr val="F4F4F4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6289" y="689292"/>
            <a:ext cx="12330430" cy="10388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330"/>
              <a:t>W</a:t>
            </a:r>
            <a:r>
              <a:rPr dirty="0" spc="-15"/>
              <a:t>e</a:t>
            </a:r>
            <a:r>
              <a:rPr dirty="0" spc="-10"/>
              <a:t>b</a:t>
            </a:r>
            <a:r>
              <a:rPr dirty="0" spc="-25"/>
              <a:t>s</a:t>
            </a:r>
            <a:r>
              <a:rPr dirty="0" spc="-35"/>
              <a:t>i</a:t>
            </a:r>
            <a:r>
              <a:rPr dirty="0" spc="-130"/>
              <a:t>t</a:t>
            </a:r>
            <a:r>
              <a:rPr dirty="0" spc="250"/>
              <a:t>e</a:t>
            </a:r>
            <a:r>
              <a:rPr dirty="0" spc="-570"/>
              <a:t> </a:t>
            </a:r>
            <a:r>
              <a:rPr dirty="0" spc="-295"/>
              <a:t>T</a:t>
            </a:r>
            <a:r>
              <a:rPr dirty="0" spc="-270"/>
              <a:t>r</a:t>
            </a:r>
            <a:r>
              <a:rPr dirty="0" spc="-210"/>
              <a:t>a</a:t>
            </a:r>
            <a:r>
              <a:rPr dirty="0" spc="-215"/>
              <a:t>f</a:t>
            </a:r>
            <a:r>
              <a:rPr dirty="0" spc="315"/>
              <a:t>f</a:t>
            </a:r>
            <a:r>
              <a:rPr dirty="0" spc="-220"/>
              <a:t>i</a:t>
            </a:r>
            <a:r>
              <a:rPr dirty="0" spc="65"/>
              <a:t>c</a:t>
            </a:r>
            <a:r>
              <a:rPr dirty="0" spc="-570"/>
              <a:t> </a:t>
            </a:r>
            <a:r>
              <a:rPr dirty="0" spc="-110"/>
              <a:t>Analysis</a:t>
            </a:r>
            <a:r>
              <a:rPr dirty="0" spc="-570"/>
              <a:t> </a:t>
            </a:r>
            <a:r>
              <a:rPr dirty="0" spc="-10"/>
              <a:t>using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49852" y="6795046"/>
            <a:ext cx="2531110" cy="1511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68655">
              <a:lnSpc>
                <a:spcPct val="132700"/>
              </a:lnSpc>
              <a:spcBef>
                <a:spcPts val="100"/>
              </a:spcBef>
            </a:pPr>
            <a:r>
              <a:rPr dirty="0" sz="2450" spc="-10">
                <a:solidFill>
                  <a:srgbClr val="F4F4F4"/>
                </a:solidFill>
                <a:latin typeface="Verdana"/>
                <a:cs typeface="Verdana"/>
              </a:rPr>
              <a:t>Ayyanar </a:t>
            </a:r>
            <a:r>
              <a:rPr dirty="0" sz="2450" spc="-70">
                <a:solidFill>
                  <a:srgbClr val="F4F4F4"/>
                </a:solidFill>
                <a:latin typeface="Verdana"/>
                <a:cs typeface="Verdana"/>
              </a:rPr>
              <a:t>Digital</a:t>
            </a:r>
            <a:r>
              <a:rPr dirty="0" sz="2450" spc="-36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2450" spc="-55">
                <a:solidFill>
                  <a:srgbClr val="F4F4F4"/>
                </a:solidFill>
                <a:latin typeface="Verdana"/>
                <a:cs typeface="Verdana"/>
              </a:rPr>
              <a:t>Marketing</a:t>
            </a:r>
            <a:endParaRPr sz="2450">
              <a:latin typeface="Verdana"/>
              <a:cs typeface="Verdana"/>
            </a:endParaRPr>
          </a:p>
          <a:p>
            <a:pPr marL="488315">
              <a:lnSpc>
                <a:spcPct val="100000"/>
              </a:lnSpc>
              <a:spcBef>
                <a:spcPts val="960"/>
              </a:spcBef>
            </a:pPr>
            <a:r>
              <a:rPr dirty="0" sz="2450" spc="-275">
                <a:solidFill>
                  <a:srgbClr val="F4F4F4"/>
                </a:solidFill>
                <a:latin typeface="Verdana"/>
                <a:cs typeface="Verdana"/>
              </a:rPr>
              <a:t>14/06/2026</a:t>
            </a:r>
            <a:endParaRPr sz="24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92216" y="4326207"/>
            <a:ext cx="142240" cy="4939030"/>
            <a:chOff x="1192216" y="4326207"/>
            <a:chExt cx="142240" cy="49390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16" y="4326207"/>
              <a:ext cx="142060" cy="14206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16" y="5011441"/>
              <a:ext cx="142060" cy="1420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16" y="5696676"/>
              <a:ext cx="142060" cy="1420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16" y="6381911"/>
              <a:ext cx="142060" cy="1420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16" y="7067146"/>
              <a:ext cx="142060" cy="1420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16" y="7752381"/>
              <a:ext cx="142060" cy="14206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2216" y="8437615"/>
              <a:ext cx="142060" cy="1420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92216" y="9122850"/>
              <a:ext cx="142060" cy="14206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53462" y="1361349"/>
            <a:ext cx="9158605" cy="8068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213610">
              <a:lnSpc>
                <a:spcPct val="100000"/>
              </a:lnSpc>
              <a:spcBef>
                <a:spcPts val="95"/>
              </a:spcBef>
            </a:pPr>
            <a:r>
              <a:rPr dirty="0" sz="6650" spc="-20" b="1">
                <a:solidFill>
                  <a:srgbClr val="F4F4F4"/>
                </a:solidFill>
                <a:latin typeface="Tahoma"/>
                <a:cs typeface="Tahoma"/>
              </a:rPr>
              <a:t>Google</a:t>
            </a:r>
            <a:r>
              <a:rPr dirty="0" sz="6650" spc="-59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6650" spc="-35" b="1">
                <a:solidFill>
                  <a:srgbClr val="F4F4F4"/>
                </a:solidFill>
                <a:latin typeface="Tahoma"/>
                <a:cs typeface="Tahoma"/>
              </a:rPr>
              <a:t>Analytics</a:t>
            </a:r>
            <a:endParaRPr sz="6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950"/>
              </a:spcBef>
            </a:pPr>
            <a:r>
              <a:rPr dirty="0" sz="6250" spc="-10" b="1">
                <a:solidFill>
                  <a:srgbClr val="F4F4F4"/>
                </a:solidFill>
                <a:latin typeface="Tahoma"/>
                <a:cs typeface="Tahoma"/>
              </a:rPr>
              <a:t>Structure</a:t>
            </a:r>
            <a:endParaRPr sz="6250">
              <a:latin typeface="Tahoma"/>
              <a:cs typeface="Tahoma"/>
            </a:endParaRPr>
          </a:p>
          <a:p>
            <a:pPr marL="374015">
              <a:lnSpc>
                <a:spcPct val="100000"/>
              </a:lnSpc>
              <a:spcBef>
                <a:spcPts val="114"/>
              </a:spcBef>
            </a:pPr>
            <a:r>
              <a:rPr dirty="0" sz="3350" spc="-10">
                <a:solidFill>
                  <a:srgbClr val="F4F4F4"/>
                </a:solidFill>
                <a:latin typeface="Verdana"/>
                <a:cs typeface="Verdana"/>
              </a:rPr>
              <a:t>Introduction</a:t>
            </a:r>
            <a:endParaRPr sz="3350">
              <a:latin typeface="Verdana"/>
              <a:cs typeface="Verdana"/>
            </a:endParaRPr>
          </a:p>
          <a:p>
            <a:pPr marL="374015" marR="3597910">
              <a:lnSpc>
                <a:spcPct val="134200"/>
              </a:lnSpc>
            </a:pPr>
            <a:r>
              <a:rPr dirty="0" sz="3350" spc="-85">
                <a:solidFill>
                  <a:srgbClr val="F4F4F4"/>
                </a:solidFill>
                <a:latin typeface="Verdana"/>
                <a:cs typeface="Verdana"/>
              </a:rPr>
              <a:t>Website</a:t>
            </a:r>
            <a:r>
              <a:rPr dirty="0" sz="3350" spc="-53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25">
                <a:solidFill>
                  <a:srgbClr val="F4F4F4"/>
                </a:solidFill>
                <a:latin typeface="Verdana"/>
                <a:cs typeface="Verdana"/>
              </a:rPr>
              <a:t>screenshots </a:t>
            </a:r>
            <a:r>
              <a:rPr dirty="0" sz="3350" spc="-75">
                <a:solidFill>
                  <a:srgbClr val="F4F4F4"/>
                </a:solidFill>
                <a:latin typeface="Verdana"/>
                <a:cs typeface="Verdana"/>
              </a:rPr>
              <a:t>Google</a:t>
            </a:r>
            <a:r>
              <a:rPr dirty="0" sz="3350" spc="-52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120">
                <a:solidFill>
                  <a:srgbClr val="F4F4F4"/>
                </a:solidFill>
                <a:latin typeface="Verdana"/>
                <a:cs typeface="Verdana"/>
              </a:rPr>
              <a:t>Analytics</a:t>
            </a:r>
            <a:r>
              <a:rPr dirty="0" sz="3350" spc="-51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125">
                <a:solidFill>
                  <a:srgbClr val="F4F4F4"/>
                </a:solidFill>
                <a:latin typeface="Verdana"/>
                <a:cs typeface="Verdana"/>
              </a:rPr>
              <a:t>overview </a:t>
            </a:r>
            <a:r>
              <a:rPr dirty="0" sz="3350" spc="-50">
                <a:solidFill>
                  <a:srgbClr val="F4F4F4"/>
                </a:solidFill>
                <a:latin typeface="Verdana"/>
                <a:cs typeface="Verdana"/>
              </a:rPr>
              <a:t>Audience</a:t>
            </a:r>
            <a:r>
              <a:rPr dirty="0" sz="3350" spc="-52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F4F4F4"/>
                </a:solidFill>
                <a:latin typeface="Verdana"/>
                <a:cs typeface="Verdana"/>
              </a:rPr>
              <a:t>insights</a:t>
            </a:r>
            <a:endParaRPr sz="3350">
              <a:latin typeface="Verdana"/>
              <a:cs typeface="Verdana"/>
            </a:endParaRPr>
          </a:p>
          <a:p>
            <a:pPr marL="374015" marR="5031105">
              <a:lnSpc>
                <a:spcPct val="134200"/>
              </a:lnSpc>
            </a:pPr>
            <a:r>
              <a:rPr dirty="0" sz="3350" spc="-135">
                <a:solidFill>
                  <a:srgbClr val="F4F4F4"/>
                </a:solidFill>
                <a:latin typeface="Verdana"/>
                <a:cs typeface="Verdana"/>
              </a:rPr>
              <a:t>Traffic</a:t>
            </a:r>
            <a:r>
              <a:rPr dirty="0" sz="3350" spc="-53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F4F4F4"/>
                </a:solidFill>
                <a:latin typeface="Verdana"/>
                <a:cs typeface="Verdana"/>
              </a:rPr>
              <a:t>sources </a:t>
            </a:r>
            <a:r>
              <a:rPr dirty="0" sz="3350">
                <a:solidFill>
                  <a:srgbClr val="F4F4F4"/>
                </a:solidFill>
                <a:latin typeface="Verdana"/>
                <a:cs typeface="Verdana"/>
              </a:rPr>
              <a:t>Page</a:t>
            </a:r>
            <a:r>
              <a:rPr dirty="0" sz="3350" spc="-49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65">
                <a:solidFill>
                  <a:srgbClr val="F4F4F4"/>
                </a:solidFill>
                <a:latin typeface="Verdana"/>
                <a:cs typeface="Verdana"/>
              </a:rPr>
              <a:t>performance </a:t>
            </a:r>
            <a:r>
              <a:rPr dirty="0" sz="3350" spc="-105">
                <a:solidFill>
                  <a:srgbClr val="F4F4F4"/>
                </a:solidFill>
                <a:latin typeface="Verdana"/>
                <a:cs typeface="Verdana"/>
              </a:rPr>
              <a:t>User</a:t>
            </a:r>
            <a:r>
              <a:rPr dirty="0" sz="3350" spc="-545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F4F4F4"/>
                </a:solidFill>
                <a:latin typeface="Verdana"/>
                <a:cs typeface="Verdana"/>
              </a:rPr>
              <a:t>behavior</a:t>
            </a:r>
            <a:endParaRPr sz="3350">
              <a:latin typeface="Verdana"/>
              <a:cs typeface="Verdana"/>
            </a:endParaRPr>
          </a:p>
          <a:p>
            <a:pPr marL="374015">
              <a:lnSpc>
                <a:spcPct val="100000"/>
              </a:lnSpc>
              <a:spcBef>
                <a:spcPts val="1375"/>
              </a:spcBef>
            </a:pPr>
            <a:r>
              <a:rPr dirty="0" sz="3350" spc="-125">
                <a:solidFill>
                  <a:srgbClr val="F4F4F4"/>
                </a:solidFill>
                <a:latin typeface="Verdana"/>
                <a:cs typeface="Verdana"/>
              </a:rPr>
              <a:t>Improvements</a:t>
            </a:r>
            <a:r>
              <a:rPr dirty="0" sz="3350" spc="-5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195">
                <a:solidFill>
                  <a:srgbClr val="F4F4F4"/>
                </a:solidFill>
                <a:latin typeface="Verdana"/>
                <a:cs typeface="Verdana"/>
              </a:rPr>
              <a:t>&amp;</a:t>
            </a:r>
            <a:r>
              <a:rPr dirty="0" sz="3350" spc="-540">
                <a:solidFill>
                  <a:srgbClr val="F4F4F4"/>
                </a:solidFill>
                <a:latin typeface="Verdana"/>
                <a:cs typeface="Verdana"/>
              </a:rPr>
              <a:t> </a:t>
            </a:r>
            <a:r>
              <a:rPr dirty="0" sz="3350" spc="-10">
                <a:solidFill>
                  <a:srgbClr val="F4F4F4"/>
                </a:solidFill>
                <a:latin typeface="Verdana"/>
                <a:cs typeface="Verdana"/>
              </a:rPr>
              <a:t>conclusion</a:t>
            </a:r>
            <a:endParaRPr sz="3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0512" y="3406870"/>
            <a:ext cx="6685280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4435" algn="l"/>
                <a:tab pos="2900045" algn="l"/>
                <a:tab pos="4736465" algn="l"/>
                <a:tab pos="5615940" algn="l"/>
              </a:tabLst>
            </a:pPr>
            <a:r>
              <a:rPr dirty="0" sz="3300" spc="35">
                <a:solidFill>
                  <a:srgbClr val="0F0F0F"/>
                </a:solidFill>
                <a:latin typeface="Tahoma"/>
                <a:cs typeface="Tahoma"/>
              </a:rPr>
              <a:t>This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project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55">
                <a:solidFill>
                  <a:srgbClr val="0F0F0F"/>
                </a:solidFill>
                <a:latin typeface="Tahoma"/>
                <a:cs typeface="Tahoma"/>
              </a:rPr>
              <a:t>focuses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95">
                <a:solidFill>
                  <a:srgbClr val="0F0F0F"/>
                </a:solidFill>
                <a:latin typeface="Tahoma"/>
                <a:cs typeface="Tahoma"/>
              </a:rPr>
              <a:t>on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traffic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0512" y="3909676"/>
            <a:ext cx="2974975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100"/>
              </a:spcBef>
              <a:tabLst>
                <a:tab pos="1729739" algn="l"/>
                <a:tab pos="1940560" algn="l"/>
                <a:tab pos="2739390" algn="l"/>
              </a:tabLst>
            </a:pP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analysis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	</a:t>
            </a:r>
            <a:r>
              <a:rPr dirty="0" sz="3300" spc="-25">
                <a:solidFill>
                  <a:srgbClr val="0F0F0F"/>
                </a:solidFill>
                <a:latin typeface="Tahoma"/>
                <a:cs typeface="Tahoma"/>
              </a:rPr>
              <a:t>of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-50">
                <a:solidFill>
                  <a:srgbClr val="0F0F0F"/>
                </a:solidFill>
                <a:latin typeface="Tahoma"/>
                <a:cs typeface="Tahoma"/>
              </a:rPr>
              <a:t>a 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'Kurtify'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70">
                <a:solidFill>
                  <a:srgbClr val="0F0F0F"/>
                </a:solidFill>
                <a:latin typeface="Tahoma"/>
                <a:cs typeface="Tahoma"/>
              </a:rPr>
              <a:t>using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55501" y="3909676"/>
            <a:ext cx="1660525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5904">
              <a:lnSpc>
                <a:spcPct val="115500"/>
              </a:lnSpc>
              <a:spcBef>
                <a:spcPts val="100"/>
              </a:spcBef>
            </a:pP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fashion </a:t>
            </a:r>
            <a:r>
              <a:rPr dirty="0" sz="3300" spc="110">
                <a:solidFill>
                  <a:srgbClr val="0F0F0F"/>
                </a:solidFill>
                <a:latin typeface="Tahoma"/>
                <a:cs typeface="Tahoma"/>
              </a:rPr>
              <a:t>Google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470" y="3909676"/>
            <a:ext cx="1819910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25755">
              <a:lnSpc>
                <a:spcPct val="115500"/>
              </a:lnSpc>
              <a:spcBef>
                <a:spcPts val="100"/>
              </a:spcBef>
            </a:pPr>
            <a:r>
              <a:rPr dirty="0" sz="3300" spc="45">
                <a:solidFill>
                  <a:srgbClr val="0F0F0F"/>
                </a:solidFill>
                <a:latin typeface="Tahoma"/>
                <a:cs typeface="Tahoma"/>
              </a:rPr>
              <a:t>website 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Analytics.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0512" y="5071725"/>
            <a:ext cx="6685280" cy="176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3300" spc="80">
                <a:solidFill>
                  <a:srgbClr val="0F0F0F"/>
                </a:solidFill>
                <a:latin typeface="Tahoma"/>
                <a:cs typeface="Tahoma"/>
              </a:rPr>
              <a:t>The</a:t>
            </a:r>
            <a:r>
              <a:rPr dirty="0" sz="3300" spc="-14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50">
                <a:solidFill>
                  <a:srgbClr val="0F0F0F"/>
                </a:solidFill>
                <a:latin typeface="Tahoma"/>
                <a:cs typeface="Tahoma"/>
              </a:rPr>
              <a:t>objective</a:t>
            </a:r>
            <a:r>
              <a:rPr dirty="0" sz="3300" spc="-14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is</a:t>
            </a:r>
            <a:r>
              <a:rPr dirty="0" sz="3300" spc="-14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to</a:t>
            </a:r>
            <a:r>
              <a:rPr dirty="0" sz="3300" spc="-14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60">
                <a:solidFill>
                  <a:srgbClr val="0F0F0F"/>
                </a:solidFill>
                <a:latin typeface="Tahoma"/>
                <a:cs typeface="Tahoma"/>
              </a:rPr>
              <a:t>understand</a:t>
            </a:r>
            <a:r>
              <a:rPr dirty="0" sz="3300" spc="-14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-20">
                <a:solidFill>
                  <a:srgbClr val="0F0F0F"/>
                </a:solidFill>
                <a:latin typeface="Tahoma"/>
                <a:cs typeface="Tahoma"/>
              </a:rPr>
              <a:t>user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behavior,</a:t>
            </a:r>
            <a:r>
              <a:rPr dirty="0" sz="3300" spc="355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traffic</a:t>
            </a:r>
            <a:r>
              <a:rPr dirty="0" sz="3300" spc="360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sources,</a:t>
            </a:r>
            <a:r>
              <a:rPr dirty="0" sz="3300" spc="360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300" spc="75">
                <a:solidFill>
                  <a:srgbClr val="0F0F0F"/>
                </a:solidFill>
                <a:latin typeface="Tahoma"/>
                <a:cs typeface="Tahoma"/>
              </a:rPr>
              <a:t>and </a:t>
            </a:r>
            <a:r>
              <a:rPr dirty="0" sz="3300" spc="55">
                <a:solidFill>
                  <a:srgbClr val="0F0F0F"/>
                </a:solidFill>
                <a:latin typeface="Tahoma"/>
                <a:cs typeface="Tahoma"/>
              </a:rPr>
              <a:t>website</a:t>
            </a:r>
            <a:r>
              <a:rPr dirty="0" sz="3300" spc="-31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performance.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30512" y="1851417"/>
            <a:ext cx="6922134" cy="1381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900" spc="-60">
                <a:solidFill>
                  <a:srgbClr val="0F0F0F"/>
                </a:solidFill>
              </a:rPr>
              <a:t>introduction</a:t>
            </a:r>
            <a:endParaRPr sz="8900"/>
          </a:p>
        </p:txBody>
      </p:sp>
      <p:grpSp>
        <p:nvGrpSpPr>
          <p:cNvPr id="8" name="object 8"/>
          <p:cNvGrpSpPr/>
          <p:nvPr/>
        </p:nvGrpSpPr>
        <p:grpSpPr>
          <a:xfrm>
            <a:off x="1134911" y="1920565"/>
            <a:ext cx="16409035" cy="7098030"/>
            <a:chOff x="1134911" y="1920565"/>
            <a:chExt cx="16409035" cy="7098030"/>
          </a:xfrm>
        </p:grpSpPr>
        <p:sp>
          <p:nvSpPr>
            <p:cNvPr id="9" name="object 9"/>
            <p:cNvSpPr/>
            <p:nvPr/>
          </p:nvSpPr>
          <p:spPr>
            <a:xfrm>
              <a:off x="1243203" y="1920569"/>
              <a:ext cx="16301085" cy="7098030"/>
            </a:xfrm>
            <a:custGeom>
              <a:avLst/>
              <a:gdLst/>
              <a:ahLst/>
              <a:cxnLst/>
              <a:rect l="l" t="t" r="r" b="b"/>
              <a:pathLst>
                <a:path w="16301085" h="7098030">
                  <a:moveTo>
                    <a:pt x="16300653" y="0"/>
                  </a:moveTo>
                  <a:lnTo>
                    <a:pt x="7262215" y="0"/>
                  </a:lnTo>
                  <a:lnTo>
                    <a:pt x="7262215" y="5273865"/>
                  </a:lnTo>
                  <a:lnTo>
                    <a:pt x="0" y="5273865"/>
                  </a:lnTo>
                  <a:lnTo>
                    <a:pt x="0" y="6318059"/>
                  </a:lnTo>
                  <a:lnTo>
                    <a:pt x="7262215" y="6318059"/>
                  </a:lnTo>
                  <a:lnTo>
                    <a:pt x="7262215" y="7097674"/>
                  </a:lnTo>
                  <a:lnTo>
                    <a:pt x="16300653" y="7097674"/>
                  </a:lnTo>
                  <a:lnTo>
                    <a:pt x="16300653" y="0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9302" y="2295158"/>
              <a:ext cx="8467724" cy="63912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39674" y="3258519"/>
              <a:ext cx="6867525" cy="5080"/>
            </a:xfrm>
            <a:custGeom>
              <a:avLst/>
              <a:gdLst/>
              <a:ahLst/>
              <a:cxnLst/>
              <a:rect l="l" t="t" r="r" b="b"/>
              <a:pathLst>
                <a:path w="6867525" h="5079">
                  <a:moveTo>
                    <a:pt x="0" y="0"/>
                  </a:moveTo>
                  <a:lnTo>
                    <a:pt x="6867103" y="4762"/>
                  </a:lnTo>
                </a:path>
              </a:pathLst>
            </a:custGeom>
            <a:ln w="952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0" y="0"/>
            <a:ext cx="858519" cy="1166495"/>
          </a:xfrm>
          <a:custGeom>
            <a:avLst/>
            <a:gdLst/>
            <a:ahLst/>
            <a:cxnLst/>
            <a:rect l="l" t="t" r="r" b="b"/>
            <a:pathLst>
              <a:path w="858519" h="1166495">
                <a:moveTo>
                  <a:pt x="0" y="1166260"/>
                </a:moveTo>
                <a:lnTo>
                  <a:pt x="0" y="0"/>
                </a:lnTo>
                <a:lnTo>
                  <a:pt x="858070" y="582207"/>
                </a:lnTo>
                <a:lnTo>
                  <a:pt x="858070" y="584052"/>
                </a:lnTo>
                <a:lnTo>
                  <a:pt x="0" y="116626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0020" y="676537"/>
            <a:ext cx="15419705" cy="8233409"/>
            <a:chOff x="730020" y="676537"/>
            <a:chExt cx="15419705" cy="8233409"/>
          </a:xfrm>
        </p:grpSpPr>
        <p:sp>
          <p:nvSpPr>
            <p:cNvPr id="3" name="object 3"/>
            <p:cNvSpPr/>
            <p:nvPr/>
          </p:nvSpPr>
          <p:spPr>
            <a:xfrm>
              <a:off x="730020" y="676537"/>
              <a:ext cx="8811895" cy="8233409"/>
            </a:xfrm>
            <a:custGeom>
              <a:avLst/>
              <a:gdLst/>
              <a:ahLst/>
              <a:cxnLst/>
              <a:rect l="l" t="t" r="r" b="b"/>
              <a:pathLst>
                <a:path w="8811895" h="8233409">
                  <a:moveTo>
                    <a:pt x="8811773" y="8232897"/>
                  </a:moveTo>
                  <a:lnTo>
                    <a:pt x="0" y="8232897"/>
                  </a:lnTo>
                  <a:lnTo>
                    <a:pt x="0" y="0"/>
                  </a:lnTo>
                  <a:lnTo>
                    <a:pt x="8811773" y="0"/>
                  </a:lnTo>
                  <a:lnTo>
                    <a:pt x="8811773" y="8232897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7936" y="1028700"/>
              <a:ext cx="3629024" cy="7696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251406" y="6443744"/>
              <a:ext cx="10897870" cy="1069340"/>
            </a:xfrm>
            <a:custGeom>
              <a:avLst/>
              <a:gdLst/>
              <a:ahLst/>
              <a:cxnLst/>
              <a:rect l="l" t="t" r="r" b="b"/>
              <a:pathLst>
                <a:path w="10897869" h="1069340">
                  <a:moveTo>
                    <a:pt x="10897764" y="1069309"/>
                  </a:moveTo>
                  <a:lnTo>
                    <a:pt x="0" y="1069309"/>
                  </a:lnTo>
                  <a:lnTo>
                    <a:pt x="0" y="0"/>
                  </a:lnTo>
                  <a:lnTo>
                    <a:pt x="10897764" y="0"/>
                  </a:lnTo>
                  <a:lnTo>
                    <a:pt x="10897764" y="1069309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5047" y="975655"/>
              <a:ext cx="3857624" cy="7658099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023098" y="1341773"/>
            <a:ext cx="497332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434">
                <a:solidFill>
                  <a:srgbClr val="0F0F0F"/>
                </a:solidFill>
              </a:rPr>
              <a:t>W</a:t>
            </a:r>
            <a:r>
              <a:rPr dirty="0" sz="9600" spc="10">
                <a:solidFill>
                  <a:srgbClr val="0F0F0F"/>
                </a:solidFill>
              </a:rPr>
              <a:t>e</a:t>
            </a:r>
            <a:r>
              <a:rPr dirty="0" sz="9600" spc="20">
                <a:solidFill>
                  <a:srgbClr val="0F0F0F"/>
                </a:solidFill>
              </a:rPr>
              <a:t>b</a:t>
            </a:r>
            <a:r>
              <a:rPr dirty="0" sz="9600">
                <a:solidFill>
                  <a:srgbClr val="0F0F0F"/>
                </a:solidFill>
              </a:rPr>
              <a:t>s</a:t>
            </a:r>
            <a:r>
              <a:rPr dirty="0" sz="9600" spc="-15">
                <a:solidFill>
                  <a:srgbClr val="0F0F0F"/>
                </a:solidFill>
              </a:rPr>
              <a:t>i</a:t>
            </a:r>
            <a:r>
              <a:rPr dirty="0" sz="9600" spc="-155">
                <a:solidFill>
                  <a:srgbClr val="0F0F0F"/>
                </a:solidFill>
              </a:rPr>
              <a:t>t</a:t>
            </a:r>
            <a:r>
              <a:rPr dirty="0" sz="9600" spc="395">
                <a:solidFill>
                  <a:srgbClr val="0F0F0F"/>
                </a:solidFill>
              </a:rPr>
              <a:t>e</a:t>
            </a:r>
            <a:endParaRPr sz="9600"/>
          </a:p>
        </p:txBody>
      </p:sp>
      <p:sp>
        <p:nvSpPr>
          <p:cNvPr id="8" name="object 8"/>
          <p:cNvSpPr txBox="1"/>
          <p:nvPr/>
        </p:nvSpPr>
        <p:spPr>
          <a:xfrm>
            <a:off x="10023098" y="2313323"/>
            <a:ext cx="571563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spc="-105" b="1">
                <a:solidFill>
                  <a:srgbClr val="0F0F0F"/>
                </a:solidFill>
                <a:latin typeface="Tahoma"/>
                <a:cs typeface="Tahoma"/>
              </a:rPr>
              <a:t>O</a:t>
            </a:r>
            <a:r>
              <a:rPr dirty="0" sz="9600" spc="-265" b="1">
                <a:solidFill>
                  <a:srgbClr val="0F0F0F"/>
                </a:solidFill>
                <a:latin typeface="Tahoma"/>
                <a:cs typeface="Tahoma"/>
              </a:rPr>
              <a:t>v</a:t>
            </a:r>
            <a:r>
              <a:rPr dirty="0" sz="9600" spc="-114" b="1">
                <a:solidFill>
                  <a:srgbClr val="0F0F0F"/>
                </a:solidFill>
                <a:latin typeface="Tahoma"/>
                <a:cs typeface="Tahoma"/>
              </a:rPr>
              <a:t>e</a:t>
            </a:r>
            <a:r>
              <a:rPr dirty="0" sz="9600" spc="5" b="1">
                <a:solidFill>
                  <a:srgbClr val="0F0F0F"/>
                </a:solidFill>
                <a:latin typeface="Tahoma"/>
                <a:cs typeface="Tahoma"/>
              </a:rPr>
              <a:t>r</a:t>
            </a:r>
            <a:r>
              <a:rPr dirty="0" sz="9600" spc="-125" b="1">
                <a:solidFill>
                  <a:srgbClr val="0F0F0F"/>
                </a:solidFill>
                <a:latin typeface="Tahoma"/>
                <a:cs typeface="Tahoma"/>
              </a:rPr>
              <a:t>v</a:t>
            </a:r>
            <a:r>
              <a:rPr dirty="0" sz="9600" spc="-140" b="1">
                <a:solidFill>
                  <a:srgbClr val="0F0F0F"/>
                </a:solidFill>
                <a:latin typeface="Tahoma"/>
                <a:cs typeface="Tahoma"/>
              </a:rPr>
              <a:t>i</a:t>
            </a:r>
            <a:r>
              <a:rPr dirty="0" sz="9600" spc="-204" b="1">
                <a:solidFill>
                  <a:srgbClr val="0F0F0F"/>
                </a:solidFill>
                <a:latin typeface="Tahoma"/>
                <a:cs typeface="Tahoma"/>
              </a:rPr>
              <a:t>e</a:t>
            </a:r>
            <a:r>
              <a:rPr dirty="0" sz="9600" spc="270" b="1">
                <a:solidFill>
                  <a:srgbClr val="0F0F0F"/>
                </a:solidFill>
                <a:latin typeface="Tahoma"/>
                <a:cs typeface="Tahoma"/>
              </a:rPr>
              <a:t>w</a:t>
            </a:r>
            <a:endParaRPr sz="9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6689" y="4085968"/>
            <a:ext cx="611378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85">
                <a:solidFill>
                  <a:srgbClr val="0F0F0F"/>
                </a:solidFill>
                <a:latin typeface="Tahoma"/>
                <a:cs typeface="Tahoma"/>
              </a:rPr>
              <a:t>The</a:t>
            </a:r>
            <a:r>
              <a:rPr dirty="0" sz="3000" spc="24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Kurtify</a:t>
            </a:r>
            <a:r>
              <a:rPr dirty="0" sz="3000" spc="24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60">
                <a:solidFill>
                  <a:srgbClr val="0F0F0F"/>
                </a:solidFill>
                <a:latin typeface="Tahoma"/>
                <a:cs typeface="Tahoma"/>
              </a:rPr>
              <a:t>website</a:t>
            </a:r>
            <a:r>
              <a:rPr dirty="0" sz="3000" spc="24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is</a:t>
            </a:r>
            <a:r>
              <a:rPr dirty="0" sz="3000" spc="24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100">
                <a:solidFill>
                  <a:srgbClr val="0F0F0F"/>
                </a:solidFill>
                <a:latin typeface="Tahoma"/>
                <a:cs typeface="Tahoma"/>
              </a:rPr>
              <a:t>designed</a:t>
            </a:r>
            <a:r>
              <a:rPr dirty="0" sz="3000" spc="24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-25">
                <a:solidFill>
                  <a:srgbClr val="0F0F0F"/>
                </a:solidFill>
                <a:latin typeface="Tahoma"/>
                <a:cs typeface="Tahoma"/>
              </a:rPr>
              <a:t>to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46689" y="4545628"/>
            <a:ext cx="3941445" cy="1087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  <a:tabLst>
                <a:tab pos="2209165" algn="l"/>
                <a:tab pos="2513965" algn="l"/>
                <a:tab pos="3352165" algn="l"/>
              </a:tabLst>
            </a:pPr>
            <a:r>
              <a:rPr dirty="0" sz="3000" spc="75">
                <a:solidFill>
                  <a:srgbClr val="0F0F0F"/>
                </a:solidFill>
                <a:latin typeface="Tahoma"/>
                <a:cs typeface="Tahoma"/>
              </a:rPr>
              <a:t>showcase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000" spc="70">
                <a:solidFill>
                  <a:srgbClr val="0F0F0F"/>
                </a:solidFill>
                <a:latin typeface="Tahoma"/>
                <a:cs typeface="Tahoma"/>
              </a:rPr>
              <a:t>and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000" spc="30">
                <a:solidFill>
                  <a:srgbClr val="0F0F0F"/>
                </a:solidFill>
                <a:latin typeface="Tahoma"/>
                <a:cs typeface="Tahoma"/>
              </a:rPr>
              <a:t>sell </a:t>
            </a:r>
            <a:r>
              <a:rPr dirty="0" sz="3000" spc="45">
                <a:solidFill>
                  <a:srgbClr val="0F0F0F"/>
                </a:solidFill>
                <a:latin typeface="Tahoma"/>
                <a:cs typeface="Tahoma"/>
              </a:rPr>
              <a:t>screenshots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		</a:t>
            </a:r>
            <a:r>
              <a:rPr dirty="0" sz="3000" spc="90">
                <a:solidFill>
                  <a:srgbClr val="0F0F0F"/>
                </a:solidFill>
                <a:latin typeface="Tahoma"/>
                <a:cs typeface="Tahoma"/>
              </a:rPr>
              <a:t>include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62611" y="4545628"/>
            <a:ext cx="1898014" cy="1087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75895">
              <a:lnSpc>
                <a:spcPct val="116199"/>
              </a:lnSpc>
              <a:spcBef>
                <a:spcPts val="95"/>
              </a:spcBef>
            </a:pP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kurtis.The </a:t>
            </a:r>
            <a:r>
              <a:rPr dirty="0" sz="3000" spc="85">
                <a:solidFill>
                  <a:srgbClr val="0F0F0F"/>
                </a:solidFill>
                <a:latin typeface="Tahoma"/>
                <a:cs typeface="Tahoma"/>
              </a:rPr>
              <a:t>homepage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46689" y="5679468"/>
            <a:ext cx="3369945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00" spc="95">
                <a:solidFill>
                  <a:srgbClr val="0F0F0F"/>
                </a:solidFill>
                <a:latin typeface="Tahoma"/>
                <a:cs typeface="Tahoma"/>
              </a:rPr>
              <a:t>and</a:t>
            </a:r>
            <a:r>
              <a:rPr dirty="0" sz="3000" spc="-2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85">
                <a:solidFill>
                  <a:srgbClr val="0F0F0F"/>
                </a:solidFill>
                <a:latin typeface="Tahoma"/>
                <a:cs typeface="Tahoma"/>
              </a:rPr>
              <a:t>product</a:t>
            </a:r>
            <a:r>
              <a:rPr dirty="0" sz="3000" spc="-28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pages.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54567" y="3833729"/>
            <a:ext cx="6867525" cy="5080"/>
          </a:xfrm>
          <a:custGeom>
            <a:avLst/>
            <a:gdLst/>
            <a:ahLst/>
            <a:cxnLst/>
            <a:rect l="l" t="t" r="r" b="b"/>
            <a:pathLst>
              <a:path w="6867525" h="5079">
                <a:moveTo>
                  <a:pt x="0" y="0"/>
                </a:moveTo>
                <a:lnTo>
                  <a:pt x="6867103" y="4762"/>
                </a:lnTo>
              </a:path>
            </a:pathLst>
          </a:custGeom>
          <a:ln w="9525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429884" y="-43"/>
            <a:ext cx="858519" cy="1166495"/>
          </a:xfrm>
          <a:custGeom>
            <a:avLst/>
            <a:gdLst/>
            <a:ahLst/>
            <a:cxnLst/>
            <a:rect l="l" t="t" r="r" b="b"/>
            <a:pathLst>
              <a:path w="858519" h="1166495">
                <a:moveTo>
                  <a:pt x="858115" y="0"/>
                </a:moveTo>
                <a:lnTo>
                  <a:pt x="858101" y="1166260"/>
                </a:lnTo>
                <a:lnTo>
                  <a:pt x="0" y="584052"/>
                </a:lnTo>
                <a:lnTo>
                  <a:pt x="0" y="582207"/>
                </a:lnTo>
                <a:lnTo>
                  <a:pt x="85811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797526" y="4736303"/>
            <a:ext cx="5532120" cy="0"/>
          </a:xfrm>
          <a:custGeom>
            <a:avLst/>
            <a:gdLst/>
            <a:ahLst/>
            <a:cxnLst/>
            <a:rect l="l" t="t" r="r" b="b"/>
            <a:pathLst>
              <a:path w="5532119" h="0">
                <a:moveTo>
                  <a:pt x="0" y="0"/>
                </a:moveTo>
                <a:lnTo>
                  <a:pt x="5531704" y="0"/>
                </a:lnTo>
              </a:path>
            </a:pathLst>
          </a:custGeom>
          <a:ln w="9524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04057" y="2079259"/>
            <a:ext cx="9850755" cy="6174740"/>
            <a:chOff x="704057" y="2079259"/>
            <a:chExt cx="9850755" cy="6174740"/>
          </a:xfrm>
        </p:grpSpPr>
        <p:sp>
          <p:nvSpPr>
            <p:cNvPr id="4" name="object 4"/>
            <p:cNvSpPr/>
            <p:nvPr/>
          </p:nvSpPr>
          <p:spPr>
            <a:xfrm>
              <a:off x="704057" y="2079259"/>
              <a:ext cx="9262110" cy="6174740"/>
            </a:xfrm>
            <a:custGeom>
              <a:avLst/>
              <a:gdLst/>
              <a:ahLst/>
              <a:cxnLst/>
              <a:rect l="l" t="t" r="r" b="b"/>
              <a:pathLst>
                <a:path w="9262110" h="6174740">
                  <a:moveTo>
                    <a:pt x="9261921" y="6174614"/>
                  </a:moveTo>
                  <a:lnTo>
                    <a:pt x="0" y="6174614"/>
                  </a:lnTo>
                  <a:lnTo>
                    <a:pt x="0" y="0"/>
                  </a:lnTo>
                  <a:lnTo>
                    <a:pt x="9261921" y="0"/>
                  </a:lnTo>
                  <a:lnTo>
                    <a:pt x="9261921" y="6174614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9" y="2393437"/>
              <a:ext cx="8639174" cy="54768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666865" y="4201648"/>
              <a:ext cx="888365" cy="1068705"/>
            </a:xfrm>
            <a:custGeom>
              <a:avLst/>
              <a:gdLst/>
              <a:ahLst/>
              <a:cxnLst/>
              <a:rect l="l" t="t" r="r" b="b"/>
              <a:pathLst>
                <a:path w="888365" h="1068704">
                  <a:moveTo>
                    <a:pt x="887895" y="1068248"/>
                  </a:moveTo>
                  <a:lnTo>
                    <a:pt x="0" y="1068248"/>
                  </a:lnTo>
                  <a:lnTo>
                    <a:pt x="0" y="0"/>
                  </a:lnTo>
                  <a:lnTo>
                    <a:pt x="887895" y="0"/>
                  </a:lnTo>
                  <a:lnTo>
                    <a:pt x="887895" y="1068248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542059" y="1690836"/>
            <a:ext cx="3763010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 spc="-10">
                <a:solidFill>
                  <a:srgbClr val="0F0F0F"/>
                </a:solidFill>
              </a:rPr>
              <a:t>Google</a:t>
            </a:r>
            <a:endParaRPr sz="8400"/>
          </a:p>
        </p:txBody>
      </p:sp>
      <p:sp>
        <p:nvSpPr>
          <p:cNvPr id="8" name="object 8"/>
          <p:cNvSpPr txBox="1"/>
          <p:nvPr/>
        </p:nvSpPr>
        <p:spPr>
          <a:xfrm>
            <a:off x="10542059" y="2538561"/>
            <a:ext cx="483679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 spc="-50" b="1">
                <a:solidFill>
                  <a:srgbClr val="0F0F0F"/>
                </a:solidFill>
                <a:latin typeface="Tahoma"/>
                <a:cs typeface="Tahoma"/>
              </a:rPr>
              <a:t>Analytics</a:t>
            </a:r>
            <a:endParaRPr sz="8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42059" y="3386285"/>
            <a:ext cx="5004435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 spc="-75" b="1">
                <a:solidFill>
                  <a:srgbClr val="0F0F0F"/>
                </a:solidFill>
                <a:latin typeface="Tahoma"/>
                <a:cs typeface="Tahoma"/>
              </a:rPr>
              <a:t>Overview</a:t>
            </a:r>
            <a:endParaRPr sz="8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42059" y="5038481"/>
            <a:ext cx="6114415" cy="32124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6199"/>
              </a:lnSpc>
              <a:spcBef>
                <a:spcPts val="95"/>
              </a:spcBef>
            </a:pPr>
            <a:r>
              <a:rPr dirty="0" sz="3000" spc="114">
                <a:solidFill>
                  <a:srgbClr val="0F0F0F"/>
                </a:solidFill>
                <a:latin typeface="Tahoma"/>
                <a:cs typeface="Tahoma"/>
              </a:rPr>
              <a:t>Google</a:t>
            </a:r>
            <a:r>
              <a:rPr dirty="0" sz="3000" spc="59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0F0F0F"/>
                </a:solidFill>
                <a:latin typeface="Tahoma"/>
                <a:cs typeface="Tahoma"/>
              </a:rPr>
              <a:t>Analytics</a:t>
            </a:r>
            <a:r>
              <a:rPr dirty="0" sz="3000" spc="60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is</a:t>
            </a:r>
            <a:r>
              <a:rPr dirty="0" sz="3000" spc="60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95">
                <a:solidFill>
                  <a:srgbClr val="0F0F0F"/>
                </a:solidFill>
                <a:latin typeface="Tahoma"/>
                <a:cs typeface="Tahoma"/>
              </a:rPr>
              <a:t>used</a:t>
            </a:r>
            <a:r>
              <a:rPr dirty="0" sz="3000" spc="60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to</a:t>
            </a:r>
            <a:r>
              <a:rPr dirty="0" sz="3000" spc="60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track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user</a:t>
            </a:r>
            <a:r>
              <a:rPr dirty="0" sz="3000" spc="195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activity</a:t>
            </a:r>
            <a:r>
              <a:rPr dirty="0" sz="3000" spc="200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 spc="95">
                <a:solidFill>
                  <a:srgbClr val="0F0F0F"/>
                </a:solidFill>
                <a:latin typeface="Tahoma"/>
                <a:cs typeface="Tahoma"/>
              </a:rPr>
              <a:t>and</a:t>
            </a:r>
            <a:r>
              <a:rPr dirty="0" sz="3000" spc="195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 spc="35">
                <a:solidFill>
                  <a:srgbClr val="0F0F0F"/>
                </a:solidFill>
                <a:latin typeface="Tahoma"/>
                <a:cs typeface="Tahoma"/>
              </a:rPr>
              <a:t>performance </a:t>
            </a: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metrics.</a:t>
            </a:r>
            <a:endParaRPr sz="3000">
              <a:latin typeface="Tahoma"/>
              <a:cs typeface="Tahoma"/>
            </a:endParaRPr>
          </a:p>
          <a:p>
            <a:pPr algn="just" marL="12700" marR="5080">
              <a:lnSpc>
                <a:spcPct val="116199"/>
              </a:lnSpc>
            </a:pPr>
            <a:r>
              <a:rPr dirty="0" sz="3000" spc="85">
                <a:solidFill>
                  <a:srgbClr val="0F0F0F"/>
                </a:solidFill>
                <a:latin typeface="Tahoma"/>
                <a:cs typeface="Tahoma"/>
              </a:rPr>
              <a:t>The</a:t>
            </a:r>
            <a:r>
              <a:rPr dirty="0" sz="3000" spc="-45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 spc="60">
                <a:solidFill>
                  <a:srgbClr val="0F0F0F"/>
                </a:solidFill>
                <a:latin typeface="Tahoma"/>
                <a:cs typeface="Tahoma"/>
              </a:rPr>
              <a:t>website</a:t>
            </a:r>
            <a:r>
              <a:rPr dirty="0" sz="3000" spc="-45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 spc="70">
                <a:solidFill>
                  <a:srgbClr val="0F0F0F"/>
                </a:solidFill>
                <a:latin typeface="Tahoma"/>
                <a:cs typeface="Tahoma"/>
              </a:rPr>
              <a:t>received</a:t>
            </a:r>
            <a:r>
              <a:rPr dirty="0" sz="3000" spc="-45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 spc="65">
                <a:solidFill>
                  <a:srgbClr val="0F0F0F"/>
                </a:solidFill>
                <a:latin typeface="Tahoma"/>
                <a:cs typeface="Tahoma"/>
              </a:rPr>
              <a:t>around</a:t>
            </a:r>
            <a:r>
              <a:rPr dirty="0" sz="3000" spc="-45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 spc="70">
                <a:solidFill>
                  <a:srgbClr val="0F0F0F"/>
                </a:solidFill>
                <a:latin typeface="Tahoma"/>
                <a:cs typeface="Tahoma"/>
              </a:rPr>
              <a:t>70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users,</a:t>
            </a:r>
            <a:r>
              <a:rPr dirty="0" sz="3000" spc="360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 spc="75">
                <a:solidFill>
                  <a:srgbClr val="0F0F0F"/>
                </a:solidFill>
                <a:latin typeface="Tahoma"/>
                <a:cs typeface="Tahoma"/>
              </a:rPr>
              <a:t>indicating</a:t>
            </a:r>
            <a:r>
              <a:rPr dirty="0" sz="3000" spc="365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initial</a:t>
            </a:r>
            <a:r>
              <a:rPr dirty="0" sz="3000" spc="365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traffic generation.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429884" y="-43"/>
            <a:ext cx="858519" cy="1166495"/>
          </a:xfrm>
          <a:custGeom>
            <a:avLst/>
            <a:gdLst/>
            <a:ahLst/>
            <a:cxnLst/>
            <a:rect l="l" t="t" r="r" b="b"/>
            <a:pathLst>
              <a:path w="858519" h="1166495">
                <a:moveTo>
                  <a:pt x="858115" y="0"/>
                </a:moveTo>
                <a:lnTo>
                  <a:pt x="858101" y="1166260"/>
                </a:lnTo>
                <a:lnTo>
                  <a:pt x="0" y="584052"/>
                </a:lnTo>
                <a:lnTo>
                  <a:pt x="0" y="582207"/>
                </a:lnTo>
                <a:lnTo>
                  <a:pt x="85811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708404"/>
            <a:ext cx="16039465" cy="9366250"/>
            <a:chOff x="1028700" y="708404"/>
            <a:chExt cx="16039465" cy="9366250"/>
          </a:xfrm>
        </p:grpSpPr>
        <p:sp>
          <p:nvSpPr>
            <p:cNvPr id="3" name="object 3"/>
            <p:cNvSpPr/>
            <p:nvPr/>
          </p:nvSpPr>
          <p:spPr>
            <a:xfrm>
              <a:off x="8525809" y="708404"/>
              <a:ext cx="8542020" cy="9366250"/>
            </a:xfrm>
            <a:custGeom>
              <a:avLst/>
              <a:gdLst/>
              <a:ahLst/>
              <a:cxnLst/>
              <a:rect l="l" t="t" r="r" b="b"/>
              <a:pathLst>
                <a:path w="8542019" h="9366250">
                  <a:moveTo>
                    <a:pt x="8541860" y="9365757"/>
                  </a:moveTo>
                  <a:lnTo>
                    <a:pt x="0" y="9365757"/>
                  </a:lnTo>
                  <a:lnTo>
                    <a:pt x="0" y="0"/>
                  </a:lnTo>
                  <a:lnTo>
                    <a:pt x="8541860" y="0"/>
                  </a:lnTo>
                  <a:lnTo>
                    <a:pt x="8541860" y="9365757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01510" y="1028700"/>
              <a:ext cx="7820024" cy="43719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8700" y="7676435"/>
              <a:ext cx="10897870" cy="1069340"/>
            </a:xfrm>
            <a:custGeom>
              <a:avLst/>
              <a:gdLst/>
              <a:ahLst/>
              <a:cxnLst/>
              <a:rect l="l" t="t" r="r" b="b"/>
              <a:pathLst>
                <a:path w="10897870" h="1069340">
                  <a:moveTo>
                    <a:pt x="10897764" y="1069309"/>
                  </a:moveTo>
                  <a:lnTo>
                    <a:pt x="0" y="1069309"/>
                  </a:lnTo>
                  <a:lnTo>
                    <a:pt x="0" y="0"/>
                  </a:lnTo>
                  <a:lnTo>
                    <a:pt x="10897764" y="0"/>
                  </a:lnTo>
                  <a:lnTo>
                    <a:pt x="10897764" y="1069309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01510" y="5817386"/>
              <a:ext cx="7820023" cy="39814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54093" y="3941347"/>
            <a:ext cx="3647440" cy="1187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040" marR="5080" indent="-53975">
              <a:lnSpc>
                <a:spcPct val="115500"/>
              </a:lnSpc>
              <a:spcBef>
                <a:spcPts val="100"/>
              </a:spcBef>
              <a:tabLst>
                <a:tab pos="1459865" algn="l"/>
                <a:tab pos="1875789" algn="l"/>
              </a:tabLst>
            </a:pPr>
            <a:r>
              <a:rPr dirty="0" sz="3300" spc="-25">
                <a:solidFill>
                  <a:srgbClr val="0F0F0F"/>
                </a:solidFill>
                <a:latin typeface="Tahoma"/>
                <a:cs typeface="Tahoma"/>
              </a:rPr>
              <a:t>of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	</a:t>
            </a:r>
            <a:r>
              <a:rPr dirty="0" sz="3300" spc="85">
                <a:solidFill>
                  <a:srgbClr val="0F0F0F"/>
                </a:solidFill>
                <a:latin typeface="Tahoma"/>
                <a:cs typeface="Tahoma"/>
              </a:rPr>
              <a:t>audience </a:t>
            </a:r>
            <a:r>
              <a:rPr dirty="0" sz="3300" spc="75">
                <a:solidFill>
                  <a:srgbClr val="0F0F0F"/>
                </a:solidFill>
                <a:latin typeface="Tahoma"/>
                <a:cs typeface="Tahoma"/>
              </a:rPr>
              <a:t>helps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50">
                <a:solidFill>
                  <a:srgbClr val="0F0F0F"/>
                </a:solidFill>
                <a:latin typeface="Tahoma"/>
                <a:cs typeface="Tahoma"/>
              </a:rPr>
              <a:t>understand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3941347"/>
            <a:ext cx="2753360" cy="176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3300" spc="35">
                <a:solidFill>
                  <a:srgbClr val="0F0F0F"/>
                </a:solidFill>
                <a:latin typeface="Tahoma"/>
                <a:cs typeface="Tahoma"/>
              </a:rPr>
              <a:t>Analysis </a:t>
            </a:r>
            <a:r>
              <a:rPr dirty="0" sz="3300" spc="75">
                <a:solidFill>
                  <a:srgbClr val="0F0F0F"/>
                </a:solidFill>
                <a:latin typeface="Tahoma"/>
                <a:cs typeface="Tahoma"/>
              </a:rPr>
              <a:t>demographics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user</a:t>
            </a:r>
            <a:r>
              <a:rPr dirty="0" sz="3300" spc="-23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behavior.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000" y="5684422"/>
            <a:ext cx="6685915" cy="1768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3300" spc="95">
                <a:solidFill>
                  <a:srgbClr val="0F0F0F"/>
                </a:solidFill>
                <a:latin typeface="Tahoma"/>
                <a:cs typeface="Tahoma"/>
              </a:rPr>
              <a:t>Most</a:t>
            </a:r>
            <a:r>
              <a:rPr dirty="0" sz="3300" spc="100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users</a:t>
            </a:r>
            <a:r>
              <a:rPr dirty="0" sz="3300" spc="105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300" spc="95">
                <a:solidFill>
                  <a:srgbClr val="0F0F0F"/>
                </a:solidFill>
                <a:latin typeface="Tahoma"/>
                <a:cs typeface="Tahoma"/>
              </a:rPr>
              <a:t>accessed</a:t>
            </a:r>
            <a:r>
              <a:rPr dirty="0" sz="3300" spc="105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via</a:t>
            </a:r>
            <a:r>
              <a:rPr dirty="0" sz="3300" spc="100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300" spc="70">
                <a:solidFill>
                  <a:srgbClr val="0F0F0F"/>
                </a:solidFill>
                <a:latin typeface="Tahoma"/>
                <a:cs typeface="Tahoma"/>
              </a:rPr>
              <a:t>mobile 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devices,</a:t>
            </a:r>
            <a:r>
              <a:rPr dirty="0" sz="3300" spc="535">
                <a:solidFill>
                  <a:srgbClr val="0F0F0F"/>
                </a:solidFill>
                <a:latin typeface="Tahoma"/>
                <a:cs typeface="Tahoma"/>
              </a:rPr>
              <a:t>     </a:t>
            </a:r>
            <a:r>
              <a:rPr dirty="0" sz="3300" spc="80">
                <a:solidFill>
                  <a:srgbClr val="0F0F0F"/>
                </a:solidFill>
                <a:latin typeface="Tahoma"/>
                <a:cs typeface="Tahoma"/>
              </a:rPr>
              <a:t>indicating</a:t>
            </a:r>
            <a:r>
              <a:rPr dirty="0" sz="3300" spc="535">
                <a:solidFill>
                  <a:srgbClr val="0F0F0F"/>
                </a:solidFill>
                <a:latin typeface="Tahoma"/>
                <a:cs typeface="Tahoma"/>
              </a:rPr>
              <a:t>     </a:t>
            </a:r>
            <a:r>
              <a:rPr dirty="0" sz="3300" spc="70">
                <a:solidFill>
                  <a:srgbClr val="0F0F0F"/>
                </a:solidFill>
                <a:latin typeface="Tahoma"/>
                <a:cs typeface="Tahoma"/>
              </a:rPr>
              <a:t>mobile </a:t>
            </a:r>
            <a:r>
              <a:rPr dirty="0" sz="3300" spc="45">
                <a:solidFill>
                  <a:srgbClr val="0F0F0F"/>
                </a:solidFill>
                <a:latin typeface="Tahoma"/>
                <a:cs typeface="Tahoma"/>
              </a:rPr>
              <a:t>optimization</a:t>
            </a:r>
            <a:r>
              <a:rPr dirty="0" sz="3300" spc="-31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40">
                <a:solidFill>
                  <a:srgbClr val="0F0F0F"/>
                </a:solidFill>
                <a:latin typeface="Tahoma"/>
                <a:cs typeface="Tahoma"/>
              </a:rPr>
              <a:t>importance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16000" y="1525516"/>
            <a:ext cx="5320665" cy="1381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900" spc="40">
                <a:solidFill>
                  <a:srgbClr val="0F0F0F"/>
                </a:solidFill>
              </a:rPr>
              <a:t>Audience</a:t>
            </a:r>
            <a:endParaRPr sz="8900"/>
          </a:p>
        </p:txBody>
      </p:sp>
      <p:sp>
        <p:nvSpPr>
          <p:cNvPr id="11" name="object 11"/>
          <p:cNvSpPr txBox="1"/>
          <p:nvPr/>
        </p:nvSpPr>
        <p:spPr>
          <a:xfrm>
            <a:off x="1016000" y="2420866"/>
            <a:ext cx="4449445" cy="1381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900" spc="-509" b="1">
                <a:solidFill>
                  <a:srgbClr val="0F0F0F"/>
                </a:solidFill>
                <a:latin typeface="Tahoma"/>
                <a:cs typeface="Tahoma"/>
              </a:rPr>
              <a:t>I</a:t>
            </a:r>
            <a:r>
              <a:rPr dirty="0" sz="8900" spc="-305" b="1">
                <a:solidFill>
                  <a:srgbClr val="0F0F0F"/>
                </a:solidFill>
                <a:latin typeface="Tahoma"/>
                <a:cs typeface="Tahoma"/>
              </a:rPr>
              <a:t>n</a:t>
            </a:r>
            <a:r>
              <a:rPr dirty="0" sz="8900" spc="-315" b="1">
                <a:solidFill>
                  <a:srgbClr val="0F0F0F"/>
                </a:solidFill>
                <a:latin typeface="Tahoma"/>
                <a:cs typeface="Tahoma"/>
              </a:rPr>
              <a:t>s</a:t>
            </a:r>
            <a:r>
              <a:rPr dirty="0" sz="8900" spc="-330" b="1">
                <a:solidFill>
                  <a:srgbClr val="0F0F0F"/>
                </a:solidFill>
                <a:latin typeface="Tahoma"/>
                <a:cs typeface="Tahoma"/>
              </a:rPr>
              <a:t>i</a:t>
            </a:r>
            <a:r>
              <a:rPr dirty="0" sz="8900" spc="-290" b="1">
                <a:solidFill>
                  <a:srgbClr val="0F0F0F"/>
                </a:solidFill>
                <a:latin typeface="Tahoma"/>
                <a:cs typeface="Tahoma"/>
              </a:rPr>
              <a:t>g</a:t>
            </a:r>
            <a:r>
              <a:rPr dirty="0" sz="8900" spc="-305" b="1">
                <a:solidFill>
                  <a:srgbClr val="0F0F0F"/>
                </a:solidFill>
                <a:latin typeface="Tahoma"/>
                <a:cs typeface="Tahoma"/>
              </a:rPr>
              <a:t>h</a:t>
            </a:r>
            <a:r>
              <a:rPr dirty="0" sz="8900" spc="-315" b="1">
                <a:solidFill>
                  <a:srgbClr val="0F0F0F"/>
                </a:solidFill>
                <a:latin typeface="Tahoma"/>
                <a:cs typeface="Tahoma"/>
              </a:rPr>
              <a:t>t</a:t>
            </a:r>
            <a:r>
              <a:rPr dirty="0" sz="8900" spc="50" b="1">
                <a:solidFill>
                  <a:srgbClr val="0F0F0F"/>
                </a:solidFill>
                <a:latin typeface="Tahoma"/>
                <a:cs typeface="Tahoma"/>
              </a:rPr>
              <a:t>s</a:t>
            </a:r>
            <a:endParaRPr sz="89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0"/>
            <a:ext cx="7693659" cy="3836035"/>
            <a:chOff x="0" y="0"/>
            <a:chExt cx="7693659" cy="3836035"/>
          </a:xfrm>
        </p:grpSpPr>
        <p:sp>
          <p:nvSpPr>
            <p:cNvPr id="13" name="object 13"/>
            <p:cNvSpPr/>
            <p:nvPr/>
          </p:nvSpPr>
          <p:spPr>
            <a:xfrm>
              <a:off x="821620" y="3826430"/>
              <a:ext cx="6867525" cy="5080"/>
            </a:xfrm>
            <a:custGeom>
              <a:avLst/>
              <a:gdLst/>
              <a:ahLst/>
              <a:cxnLst/>
              <a:rect l="l" t="t" r="r" b="b"/>
              <a:pathLst>
                <a:path w="6867525" h="5079">
                  <a:moveTo>
                    <a:pt x="0" y="0"/>
                  </a:moveTo>
                  <a:lnTo>
                    <a:pt x="6867103" y="4762"/>
                  </a:lnTo>
                </a:path>
              </a:pathLst>
            </a:custGeom>
            <a:ln w="9525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0" y="0"/>
              <a:ext cx="858519" cy="1166495"/>
            </a:xfrm>
            <a:custGeom>
              <a:avLst/>
              <a:gdLst/>
              <a:ahLst/>
              <a:cxnLst/>
              <a:rect l="l" t="t" r="r" b="b"/>
              <a:pathLst>
                <a:path w="858519" h="1166495">
                  <a:moveTo>
                    <a:pt x="0" y="1166260"/>
                  </a:moveTo>
                  <a:lnTo>
                    <a:pt x="0" y="0"/>
                  </a:lnTo>
                  <a:lnTo>
                    <a:pt x="858070" y="582207"/>
                  </a:lnTo>
                  <a:lnTo>
                    <a:pt x="858070" y="584052"/>
                  </a:lnTo>
                  <a:lnTo>
                    <a:pt x="0" y="1166260"/>
                  </a:lnTo>
                  <a:close/>
                </a:path>
              </a:pathLst>
            </a:custGeom>
            <a:solidFill>
              <a:srgbClr val="2A2A2A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98820" y="4631903"/>
            <a:ext cx="5561330" cy="0"/>
          </a:xfrm>
          <a:custGeom>
            <a:avLst/>
            <a:gdLst/>
            <a:ahLst/>
            <a:cxnLst/>
            <a:rect l="l" t="t" r="r" b="b"/>
            <a:pathLst>
              <a:path w="5561330" h="0">
                <a:moveTo>
                  <a:pt x="0" y="0"/>
                </a:moveTo>
                <a:lnTo>
                  <a:pt x="5560911" y="0"/>
                </a:lnTo>
              </a:path>
            </a:pathLst>
          </a:custGeom>
          <a:ln w="9524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34557" y="1974859"/>
            <a:ext cx="16153130" cy="5939790"/>
            <a:chOff x="834557" y="1974859"/>
            <a:chExt cx="16153130" cy="5939790"/>
          </a:xfrm>
        </p:grpSpPr>
        <p:sp>
          <p:nvSpPr>
            <p:cNvPr id="4" name="object 4"/>
            <p:cNvSpPr/>
            <p:nvPr/>
          </p:nvSpPr>
          <p:spPr>
            <a:xfrm>
              <a:off x="834555" y="1974862"/>
              <a:ext cx="16153130" cy="5939790"/>
            </a:xfrm>
            <a:custGeom>
              <a:avLst/>
              <a:gdLst/>
              <a:ahLst/>
              <a:cxnLst/>
              <a:rect l="l" t="t" r="r" b="b"/>
              <a:pathLst>
                <a:path w="16153130" h="5939790">
                  <a:moveTo>
                    <a:pt x="16152698" y="5102060"/>
                  </a:moveTo>
                  <a:lnTo>
                    <a:pt x="9257601" y="5102060"/>
                  </a:lnTo>
                  <a:lnTo>
                    <a:pt x="9257601" y="0"/>
                  </a:lnTo>
                  <a:lnTo>
                    <a:pt x="0" y="0"/>
                  </a:lnTo>
                  <a:lnTo>
                    <a:pt x="0" y="5939714"/>
                  </a:lnTo>
                  <a:lnTo>
                    <a:pt x="9257601" y="5939714"/>
                  </a:lnTo>
                  <a:lnTo>
                    <a:pt x="9257601" y="5608320"/>
                  </a:lnTo>
                  <a:lnTo>
                    <a:pt x="16152698" y="5608320"/>
                  </a:lnTo>
                  <a:lnTo>
                    <a:pt x="16152698" y="5102060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8699" y="2274312"/>
              <a:ext cx="8829674" cy="530542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672559" y="2434160"/>
            <a:ext cx="3376295" cy="13055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 spc="-340">
                <a:solidFill>
                  <a:srgbClr val="0F0F0F"/>
                </a:solidFill>
              </a:rPr>
              <a:t>T</a:t>
            </a:r>
            <a:r>
              <a:rPr dirty="0" sz="8400" spc="-305">
                <a:solidFill>
                  <a:srgbClr val="0F0F0F"/>
                </a:solidFill>
              </a:rPr>
              <a:t>r</a:t>
            </a:r>
            <a:r>
              <a:rPr dirty="0" sz="8400" spc="-229">
                <a:solidFill>
                  <a:srgbClr val="0F0F0F"/>
                </a:solidFill>
              </a:rPr>
              <a:t>a</a:t>
            </a:r>
            <a:r>
              <a:rPr dirty="0" sz="8400" spc="-240">
                <a:solidFill>
                  <a:srgbClr val="0F0F0F"/>
                </a:solidFill>
              </a:rPr>
              <a:t>f</a:t>
            </a:r>
            <a:r>
              <a:rPr dirty="0" sz="8400" spc="430">
                <a:solidFill>
                  <a:srgbClr val="0F0F0F"/>
                </a:solidFill>
              </a:rPr>
              <a:t>f</a:t>
            </a:r>
            <a:r>
              <a:rPr dirty="0" sz="8400" spc="-245">
                <a:solidFill>
                  <a:srgbClr val="0F0F0F"/>
                </a:solidFill>
              </a:rPr>
              <a:t>i</a:t>
            </a:r>
            <a:r>
              <a:rPr dirty="0" sz="8400" spc="114">
                <a:solidFill>
                  <a:srgbClr val="0F0F0F"/>
                </a:solidFill>
              </a:rPr>
              <a:t>c</a:t>
            </a:r>
            <a:endParaRPr sz="8400"/>
          </a:p>
        </p:txBody>
      </p:sp>
      <p:sp>
        <p:nvSpPr>
          <p:cNvPr id="7" name="object 7"/>
          <p:cNvSpPr txBox="1"/>
          <p:nvPr/>
        </p:nvSpPr>
        <p:spPr>
          <a:xfrm>
            <a:off x="10672559" y="3281885"/>
            <a:ext cx="418211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400" spc="-75" b="1">
                <a:solidFill>
                  <a:srgbClr val="0F0F0F"/>
                </a:solidFill>
                <a:latin typeface="Tahoma"/>
                <a:cs typeface="Tahoma"/>
              </a:rPr>
              <a:t>Sources</a:t>
            </a:r>
            <a:endParaRPr sz="8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86120" y="4923859"/>
            <a:ext cx="6114415" cy="2150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Traffic</a:t>
            </a:r>
            <a:r>
              <a:rPr dirty="0" sz="3000" spc="55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65">
                <a:solidFill>
                  <a:srgbClr val="0F0F0F"/>
                </a:solidFill>
                <a:latin typeface="Tahoma"/>
                <a:cs typeface="Tahoma"/>
              </a:rPr>
              <a:t>sources</a:t>
            </a:r>
            <a:r>
              <a:rPr dirty="0" sz="3000" spc="55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95">
                <a:solidFill>
                  <a:srgbClr val="0F0F0F"/>
                </a:solidFill>
                <a:latin typeface="Tahoma"/>
                <a:cs typeface="Tahoma"/>
              </a:rPr>
              <a:t>show</a:t>
            </a:r>
            <a:r>
              <a:rPr dirty="0" sz="3000" spc="55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0F0F0F"/>
                </a:solidFill>
                <a:latin typeface="Tahoma"/>
                <a:cs typeface="Tahoma"/>
              </a:rPr>
              <a:t>where</a:t>
            </a:r>
            <a:r>
              <a:rPr dirty="0" sz="3000" spc="55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users </a:t>
            </a:r>
            <a:r>
              <a:rPr dirty="0" sz="3000" spc="105">
                <a:solidFill>
                  <a:srgbClr val="0F0F0F"/>
                </a:solidFill>
                <a:latin typeface="Tahoma"/>
                <a:cs typeface="Tahoma"/>
              </a:rPr>
              <a:t>come</a:t>
            </a:r>
            <a:r>
              <a:rPr dirty="0" sz="3000" spc="-27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-20">
                <a:solidFill>
                  <a:srgbClr val="0F0F0F"/>
                </a:solidFill>
                <a:latin typeface="Tahoma"/>
                <a:cs typeface="Tahoma"/>
              </a:rPr>
              <a:t>from.</a:t>
            </a:r>
            <a:endParaRPr sz="3000">
              <a:latin typeface="Tahoma"/>
              <a:cs typeface="Tahoma"/>
            </a:endParaRPr>
          </a:p>
          <a:p>
            <a:pPr marL="12700" marR="5080">
              <a:lnSpc>
                <a:spcPct val="116199"/>
              </a:lnSpc>
            </a:pP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Major</a:t>
            </a:r>
            <a:r>
              <a:rPr dirty="0" sz="3000" spc="204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traffic</a:t>
            </a:r>
            <a:r>
              <a:rPr dirty="0" sz="3000" spc="210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is</a:t>
            </a:r>
            <a:r>
              <a:rPr dirty="0" sz="3000" spc="210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from</a:t>
            </a:r>
            <a:r>
              <a:rPr dirty="0" sz="3000" spc="210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 spc="50">
                <a:solidFill>
                  <a:srgbClr val="0F0F0F"/>
                </a:solidFill>
                <a:latin typeface="Tahoma"/>
                <a:cs typeface="Tahoma"/>
              </a:rPr>
              <a:t>direct</a:t>
            </a:r>
            <a:r>
              <a:rPr dirty="0" sz="3000" spc="204">
                <a:solidFill>
                  <a:srgbClr val="0F0F0F"/>
                </a:solidFill>
                <a:latin typeface="Tahoma"/>
                <a:cs typeface="Tahoma"/>
              </a:rPr>
              <a:t>  </a:t>
            </a:r>
            <a:r>
              <a:rPr dirty="0" sz="3000" spc="70">
                <a:solidFill>
                  <a:srgbClr val="0F0F0F"/>
                </a:solidFill>
                <a:latin typeface="Tahoma"/>
                <a:cs typeface="Tahoma"/>
              </a:rPr>
              <a:t>and social</a:t>
            </a:r>
            <a:r>
              <a:rPr dirty="0" sz="3000" spc="-27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channels.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429884" y="-43"/>
            <a:ext cx="858519" cy="1166495"/>
          </a:xfrm>
          <a:custGeom>
            <a:avLst/>
            <a:gdLst/>
            <a:ahLst/>
            <a:cxnLst/>
            <a:rect l="l" t="t" r="r" b="b"/>
            <a:pathLst>
              <a:path w="858519" h="1166495">
                <a:moveTo>
                  <a:pt x="858115" y="0"/>
                </a:moveTo>
                <a:lnTo>
                  <a:pt x="858101" y="1166260"/>
                </a:lnTo>
                <a:lnTo>
                  <a:pt x="0" y="584052"/>
                </a:lnTo>
                <a:lnTo>
                  <a:pt x="0" y="582207"/>
                </a:lnTo>
                <a:lnTo>
                  <a:pt x="85811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1867823"/>
            <a:ext cx="15781019" cy="6551930"/>
            <a:chOff x="1028700" y="1867823"/>
            <a:chExt cx="15781019" cy="6551930"/>
          </a:xfrm>
        </p:grpSpPr>
        <p:sp>
          <p:nvSpPr>
            <p:cNvPr id="3" name="object 3"/>
            <p:cNvSpPr/>
            <p:nvPr/>
          </p:nvSpPr>
          <p:spPr>
            <a:xfrm>
              <a:off x="1028687" y="1867826"/>
              <a:ext cx="15781019" cy="6551930"/>
            </a:xfrm>
            <a:custGeom>
              <a:avLst/>
              <a:gdLst/>
              <a:ahLst/>
              <a:cxnLst/>
              <a:rect l="l" t="t" r="r" b="b"/>
              <a:pathLst>
                <a:path w="15781019" h="6551930">
                  <a:moveTo>
                    <a:pt x="15780792" y="0"/>
                  </a:moveTo>
                  <a:lnTo>
                    <a:pt x="7386879" y="0"/>
                  </a:lnTo>
                  <a:lnTo>
                    <a:pt x="7386879" y="5208879"/>
                  </a:lnTo>
                  <a:lnTo>
                    <a:pt x="0" y="5208879"/>
                  </a:lnTo>
                  <a:lnTo>
                    <a:pt x="0" y="6278194"/>
                  </a:lnTo>
                  <a:lnTo>
                    <a:pt x="7386879" y="6278194"/>
                  </a:lnTo>
                  <a:lnTo>
                    <a:pt x="7386879" y="6551358"/>
                  </a:lnTo>
                  <a:lnTo>
                    <a:pt x="15780792" y="6551358"/>
                  </a:lnTo>
                  <a:lnTo>
                    <a:pt x="15780792" y="0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48051" y="2140984"/>
              <a:ext cx="7534275" cy="60007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230512" y="1582650"/>
            <a:ext cx="2513965" cy="1199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700" spc="90">
                <a:solidFill>
                  <a:srgbClr val="0F0F0F"/>
                </a:solidFill>
              </a:rPr>
              <a:t>Page</a:t>
            </a:r>
            <a:endParaRPr sz="7700"/>
          </a:p>
        </p:txBody>
      </p:sp>
      <p:sp>
        <p:nvSpPr>
          <p:cNvPr id="6" name="object 6"/>
          <p:cNvSpPr txBox="1"/>
          <p:nvPr/>
        </p:nvSpPr>
        <p:spPr>
          <a:xfrm>
            <a:off x="1230512" y="2363700"/>
            <a:ext cx="6286500" cy="1199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700" spc="-25" b="1">
                <a:solidFill>
                  <a:srgbClr val="0F0F0F"/>
                </a:solidFill>
                <a:latin typeface="Tahoma"/>
                <a:cs typeface="Tahoma"/>
              </a:rPr>
              <a:t>Performance</a:t>
            </a:r>
            <a:endParaRPr sz="77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512" y="3678107"/>
            <a:ext cx="6685280" cy="2539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100"/>
              </a:spcBef>
            </a:pP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Top-performing</a:t>
            </a:r>
            <a:r>
              <a:rPr dirty="0" sz="3300" spc="-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90">
                <a:solidFill>
                  <a:srgbClr val="0F0F0F"/>
                </a:solidFill>
                <a:latin typeface="Tahoma"/>
                <a:cs typeface="Tahoma"/>
              </a:rPr>
              <a:t>pages</a:t>
            </a:r>
            <a:r>
              <a:rPr dirty="0" sz="3300" spc="-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100">
                <a:solidFill>
                  <a:srgbClr val="0F0F0F"/>
                </a:solidFill>
                <a:latin typeface="Tahoma"/>
                <a:cs typeface="Tahoma"/>
              </a:rPr>
              <a:t>help</a:t>
            </a:r>
            <a:r>
              <a:rPr dirty="0" sz="3300" spc="-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identify </a:t>
            </a:r>
            <a:r>
              <a:rPr dirty="0" sz="3300" spc="75">
                <a:solidFill>
                  <a:srgbClr val="0F0F0F"/>
                </a:solidFill>
                <a:latin typeface="Tahoma"/>
                <a:cs typeface="Tahoma"/>
              </a:rPr>
              <a:t>popular</a:t>
            </a:r>
            <a:r>
              <a:rPr dirty="0" sz="3300" spc="-30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300" spc="-10">
                <a:solidFill>
                  <a:srgbClr val="0F0F0F"/>
                </a:solidFill>
                <a:latin typeface="Tahoma"/>
                <a:cs typeface="Tahoma"/>
              </a:rPr>
              <a:t>content.</a:t>
            </a:r>
            <a:endParaRPr sz="3300">
              <a:latin typeface="Tahoma"/>
              <a:cs typeface="Tahoma"/>
            </a:endParaRPr>
          </a:p>
          <a:p>
            <a:pPr marL="12700" marR="5080">
              <a:lnSpc>
                <a:spcPct val="115500"/>
              </a:lnSpc>
              <a:spcBef>
                <a:spcPts val="1495"/>
              </a:spcBef>
              <a:tabLst>
                <a:tab pos="1805305" algn="l"/>
                <a:tab pos="3424554" algn="l"/>
                <a:tab pos="5700395" algn="l"/>
              </a:tabLst>
            </a:pPr>
            <a:r>
              <a:rPr dirty="0" sz="3300" spc="80">
                <a:solidFill>
                  <a:srgbClr val="0F0F0F"/>
                </a:solidFill>
                <a:latin typeface="Tahoma"/>
                <a:cs typeface="Tahoma"/>
              </a:rPr>
              <a:t>Home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85">
                <a:solidFill>
                  <a:srgbClr val="0F0F0F"/>
                </a:solidFill>
                <a:latin typeface="Tahoma"/>
                <a:cs typeface="Tahoma"/>
              </a:rPr>
              <a:t>page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60">
                <a:solidFill>
                  <a:srgbClr val="0F0F0F"/>
                </a:solidFill>
                <a:latin typeface="Tahoma"/>
                <a:cs typeface="Tahoma"/>
              </a:rPr>
              <a:t>recieved</a:t>
            </a:r>
            <a:r>
              <a:rPr dirty="0" sz="330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300" spc="-20">
                <a:solidFill>
                  <a:srgbClr val="0F0F0F"/>
                </a:solidFill>
                <a:latin typeface="Tahoma"/>
                <a:cs typeface="Tahoma"/>
              </a:rPr>
              <a:t>more </a:t>
            </a:r>
            <a:r>
              <a:rPr dirty="0" sz="3300" spc="60">
                <a:solidFill>
                  <a:srgbClr val="0F0F0F"/>
                </a:solidFill>
                <a:latin typeface="Tahoma"/>
                <a:cs typeface="Tahoma"/>
              </a:rPr>
              <a:t>engagement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6132" y="3602311"/>
            <a:ext cx="6867525" cy="5080"/>
          </a:xfrm>
          <a:custGeom>
            <a:avLst/>
            <a:gdLst/>
            <a:ahLst/>
            <a:cxnLst/>
            <a:rect l="l" t="t" r="r" b="b"/>
            <a:pathLst>
              <a:path w="6867525" h="5079">
                <a:moveTo>
                  <a:pt x="0" y="0"/>
                </a:moveTo>
                <a:lnTo>
                  <a:pt x="6867103" y="4762"/>
                </a:lnTo>
              </a:path>
            </a:pathLst>
          </a:custGeom>
          <a:ln w="9525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858519" cy="1166495"/>
          </a:xfrm>
          <a:custGeom>
            <a:avLst/>
            <a:gdLst/>
            <a:ahLst/>
            <a:cxnLst/>
            <a:rect l="l" t="t" r="r" b="b"/>
            <a:pathLst>
              <a:path w="858519" h="1166495">
                <a:moveTo>
                  <a:pt x="0" y="1166260"/>
                </a:moveTo>
                <a:lnTo>
                  <a:pt x="0" y="0"/>
                </a:lnTo>
                <a:lnTo>
                  <a:pt x="858070" y="582207"/>
                </a:lnTo>
                <a:lnTo>
                  <a:pt x="858070" y="584052"/>
                </a:lnTo>
                <a:lnTo>
                  <a:pt x="0" y="116626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899418" y="3937592"/>
            <a:ext cx="5612130" cy="0"/>
          </a:xfrm>
          <a:custGeom>
            <a:avLst/>
            <a:gdLst/>
            <a:ahLst/>
            <a:cxnLst/>
            <a:rect l="l" t="t" r="r" b="b"/>
            <a:pathLst>
              <a:path w="5612130" h="0">
                <a:moveTo>
                  <a:pt x="0" y="0"/>
                </a:moveTo>
                <a:lnTo>
                  <a:pt x="5611647" y="0"/>
                </a:lnTo>
              </a:path>
            </a:pathLst>
          </a:custGeom>
          <a:ln w="9524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08966" y="1974859"/>
            <a:ext cx="9385935" cy="5387340"/>
            <a:chOff x="708966" y="1974859"/>
            <a:chExt cx="9385935" cy="5387340"/>
          </a:xfrm>
        </p:grpSpPr>
        <p:sp>
          <p:nvSpPr>
            <p:cNvPr id="4" name="object 4"/>
            <p:cNvSpPr/>
            <p:nvPr/>
          </p:nvSpPr>
          <p:spPr>
            <a:xfrm>
              <a:off x="708966" y="1974859"/>
              <a:ext cx="9385935" cy="5387340"/>
            </a:xfrm>
            <a:custGeom>
              <a:avLst/>
              <a:gdLst/>
              <a:ahLst/>
              <a:cxnLst/>
              <a:rect l="l" t="t" r="r" b="b"/>
              <a:pathLst>
                <a:path w="9385935" h="5387340">
                  <a:moveTo>
                    <a:pt x="9385361" y="5387113"/>
                  </a:moveTo>
                  <a:lnTo>
                    <a:pt x="0" y="5387113"/>
                  </a:lnTo>
                  <a:lnTo>
                    <a:pt x="0" y="0"/>
                  </a:lnTo>
                  <a:lnTo>
                    <a:pt x="9385361" y="0"/>
                  </a:lnTo>
                  <a:lnTo>
                    <a:pt x="9385361" y="5387113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8734" y="2282759"/>
              <a:ext cx="8839199" cy="473392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0673157" y="1922694"/>
            <a:ext cx="2230755" cy="1199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700" spc="-45">
                <a:solidFill>
                  <a:srgbClr val="0F0F0F"/>
                </a:solidFill>
              </a:rPr>
              <a:t>User</a:t>
            </a:r>
            <a:endParaRPr sz="7700"/>
          </a:p>
        </p:txBody>
      </p:sp>
      <p:sp>
        <p:nvSpPr>
          <p:cNvPr id="7" name="object 7"/>
          <p:cNvSpPr txBox="1"/>
          <p:nvPr/>
        </p:nvSpPr>
        <p:spPr>
          <a:xfrm>
            <a:off x="10673157" y="2703744"/>
            <a:ext cx="6338570" cy="1199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700" spc="90" b="1">
                <a:solidFill>
                  <a:srgbClr val="0F0F0F"/>
                </a:solidFill>
                <a:latin typeface="Tahoma"/>
                <a:cs typeface="Tahoma"/>
              </a:rPr>
              <a:t>Engagement</a:t>
            </a:r>
            <a:endParaRPr sz="7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73157" y="4195432"/>
            <a:ext cx="6114415" cy="2681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6199"/>
              </a:lnSpc>
              <a:spcBef>
                <a:spcPts val="95"/>
              </a:spcBef>
            </a:pP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User</a:t>
            </a:r>
            <a:r>
              <a:rPr dirty="0" sz="3000" spc="40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75">
                <a:solidFill>
                  <a:srgbClr val="0F0F0F"/>
                </a:solidFill>
                <a:latin typeface="Tahoma"/>
                <a:cs typeface="Tahoma"/>
              </a:rPr>
              <a:t>engagement</a:t>
            </a:r>
            <a:r>
              <a:rPr dirty="0" sz="3000" spc="409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metrics</a:t>
            </a:r>
            <a:r>
              <a:rPr dirty="0" sz="3000" spc="409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55">
                <a:solidFill>
                  <a:srgbClr val="0F0F0F"/>
                </a:solidFill>
                <a:latin typeface="Tahoma"/>
                <a:cs typeface="Tahoma"/>
              </a:rPr>
              <a:t>indicate </a:t>
            </a:r>
            <a:r>
              <a:rPr dirty="0" sz="3000" spc="114">
                <a:solidFill>
                  <a:srgbClr val="0F0F0F"/>
                </a:solidFill>
                <a:latin typeface="Tahoma"/>
                <a:cs typeface="Tahoma"/>
              </a:rPr>
              <a:t>how</a:t>
            </a:r>
            <a:r>
              <a:rPr dirty="0" sz="3000" spc="300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users</a:t>
            </a:r>
            <a:r>
              <a:rPr dirty="0" sz="3000" spc="300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interact</a:t>
            </a:r>
            <a:r>
              <a:rPr dirty="0" sz="3000" spc="305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with</a:t>
            </a:r>
            <a:r>
              <a:rPr dirty="0" sz="3000" spc="300">
                <a:solidFill>
                  <a:srgbClr val="0F0F0F"/>
                </a:solidFill>
                <a:latin typeface="Tahoma"/>
                <a:cs typeface="Tahoma"/>
              </a:rPr>
              <a:t>   </a:t>
            </a:r>
            <a:r>
              <a:rPr dirty="0" sz="3000" spc="-25">
                <a:solidFill>
                  <a:srgbClr val="0F0F0F"/>
                </a:solidFill>
                <a:latin typeface="Tahoma"/>
                <a:cs typeface="Tahoma"/>
              </a:rPr>
              <a:t>the </a:t>
            </a:r>
            <a:r>
              <a:rPr dirty="0" sz="3000" spc="-10">
                <a:solidFill>
                  <a:srgbClr val="0F0F0F"/>
                </a:solidFill>
                <a:latin typeface="Tahoma"/>
                <a:cs typeface="Tahoma"/>
              </a:rPr>
              <a:t>website.</a:t>
            </a:r>
            <a:endParaRPr sz="3000">
              <a:latin typeface="Tahoma"/>
              <a:cs typeface="Tahoma"/>
            </a:endParaRPr>
          </a:p>
          <a:p>
            <a:pPr algn="just" marL="12700" marR="5080">
              <a:lnSpc>
                <a:spcPct val="116199"/>
              </a:lnSpc>
            </a:pPr>
            <a:r>
              <a:rPr dirty="0" sz="3000" spc="65">
                <a:solidFill>
                  <a:srgbClr val="0F0F0F"/>
                </a:solidFill>
                <a:latin typeface="Tahoma"/>
                <a:cs typeface="Tahoma"/>
              </a:rPr>
              <a:t>Session</a:t>
            </a:r>
            <a:r>
              <a:rPr dirty="0" sz="3000" spc="509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0F0F0F"/>
                </a:solidFill>
                <a:latin typeface="Tahoma"/>
                <a:cs typeface="Tahoma"/>
              </a:rPr>
              <a:t>duration</a:t>
            </a:r>
            <a:r>
              <a:rPr dirty="0" sz="3000" spc="509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is</a:t>
            </a:r>
            <a:r>
              <a:rPr dirty="0" sz="3000" spc="51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moderate,</a:t>
            </a:r>
            <a:r>
              <a:rPr dirty="0" sz="3000" spc="509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40">
                <a:solidFill>
                  <a:srgbClr val="0F0F0F"/>
                </a:solidFill>
                <a:latin typeface="Tahoma"/>
                <a:cs typeface="Tahoma"/>
              </a:rPr>
              <a:t>but </a:t>
            </a:r>
            <a:r>
              <a:rPr dirty="0" sz="3000" spc="45">
                <a:solidFill>
                  <a:srgbClr val="0F0F0F"/>
                </a:solidFill>
                <a:latin typeface="Tahoma"/>
                <a:cs typeface="Tahoma"/>
              </a:rPr>
              <a:t>improvement</a:t>
            </a:r>
            <a:r>
              <a:rPr dirty="0" sz="3000" spc="-24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>
                <a:solidFill>
                  <a:srgbClr val="0F0F0F"/>
                </a:solidFill>
                <a:latin typeface="Tahoma"/>
                <a:cs typeface="Tahoma"/>
              </a:rPr>
              <a:t>is</a:t>
            </a:r>
            <a:r>
              <a:rPr dirty="0" sz="3000" spc="-24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000" spc="45">
                <a:solidFill>
                  <a:srgbClr val="0F0F0F"/>
                </a:solidFill>
                <a:latin typeface="Tahoma"/>
                <a:cs typeface="Tahoma"/>
              </a:rPr>
              <a:t>needed.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8966" y="7522976"/>
            <a:ext cx="16067405" cy="869315"/>
          </a:xfrm>
          <a:custGeom>
            <a:avLst/>
            <a:gdLst/>
            <a:ahLst/>
            <a:cxnLst/>
            <a:rect l="l" t="t" r="r" b="b"/>
            <a:pathLst>
              <a:path w="16067405" h="869315">
                <a:moveTo>
                  <a:pt x="16066875" y="869213"/>
                </a:moveTo>
                <a:lnTo>
                  <a:pt x="0" y="869213"/>
                </a:lnTo>
                <a:lnTo>
                  <a:pt x="0" y="0"/>
                </a:lnTo>
                <a:lnTo>
                  <a:pt x="16066875" y="0"/>
                </a:lnTo>
                <a:lnTo>
                  <a:pt x="16066875" y="869213"/>
                </a:lnTo>
                <a:close/>
              </a:path>
            </a:pathLst>
          </a:custGeom>
          <a:solidFill>
            <a:srgbClr val="0F0F0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429884" y="-43"/>
            <a:ext cx="858519" cy="1166495"/>
          </a:xfrm>
          <a:custGeom>
            <a:avLst/>
            <a:gdLst/>
            <a:ahLst/>
            <a:cxnLst/>
            <a:rect l="l" t="t" r="r" b="b"/>
            <a:pathLst>
              <a:path w="858519" h="1166495">
                <a:moveTo>
                  <a:pt x="858115" y="0"/>
                </a:moveTo>
                <a:lnTo>
                  <a:pt x="858101" y="1166260"/>
                </a:lnTo>
                <a:lnTo>
                  <a:pt x="0" y="584052"/>
                </a:lnTo>
                <a:lnTo>
                  <a:pt x="0" y="582207"/>
                </a:lnTo>
                <a:lnTo>
                  <a:pt x="858115" y="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03239" y="1867823"/>
            <a:ext cx="8903970" cy="6551930"/>
            <a:chOff x="7903239" y="1867823"/>
            <a:chExt cx="8903970" cy="6551930"/>
          </a:xfrm>
        </p:grpSpPr>
        <p:sp>
          <p:nvSpPr>
            <p:cNvPr id="3" name="object 3"/>
            <p:cNvSpPr/>
            <p:nvPr/>
          </p:nvSpPr>
          <p:spPr>
            <a:xfrm>
              <a:off x="7903236" y="1867826"/>
              <a:ext cx="8903970" cy="6551930"/>
            </a:xfrm>
            <a:custGeom>
              <a:avLst/>
              <a:gdLst/>
              <a:ahLst/>
              <a:cxnLst/>
              <a:rect l="l" t="t" r="r" b="b"/>
              <a:pathLst>
                <a:path w="8903969" h="6551930">
                  <a:moveTo>
                    <a:pt x="8903411" y="0"/>
                  </a:moveTo>
                  <a:lnTo>
                    <a:pt x="663041" y="0"/>
                  </a:lnTo>
                  <a:lnTo>
                    <a:pt x="663041" y="2415756"/>
                  </a:lnTo>
                  <a:lnTo>
                    <a:pt x="0" y="2415756"/>
                  </a:lnTo>
                  <a:lnTo>
                    <a:pt x="0" y="3485070"/>
                  </a:lnTo>
                  <a:lnTo>
                    <a:pt x="663041" y="3485070"/>
                  </a:lnTo>
                  <a:lnTo>
                    <a:pt x="663041" y="6551358"/>
                  </a:lnTo>
                  <a:lnTo>
                    <a:pt x="8903411" y="6551358"/>
                  </a:lnTo>
                  <a:lnTo>
                    <a:pt x="8903411" y="0"/>
                  </a:lnTo>
                  <a:close/>
                </a:path>
              </a:pathLst>
            </a:custGeom>
            <a:solidFill>
              <a:srgbClr val="0F0F0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23406" y="2140984"/>
              <a:ext cx="7534275" cy="600074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230512" y="3460305"/>
            <a:ext cx="6433820" cy="452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015" marR="252729" indent="-234950">
              <a:lnSpc>
                <a:spcPct val="115199"/>
              </a:lnSpc>
              <a:spcBef>
                <a:spcPts val="100"/>
              </a:spcBef>
              <a:buClr>
                <a:srgbClr val="0F0F0F"/>
              </a:buClr>
              <a:buFont typeface="Tahoma"/>
              <a:buChar char="•"/>
              <a:tabLst>
                <a:tab pos="275590" algn="l"/>
              </a:tabLst>
            </a:pPr>
            <a:r>
              <a:rPr dirty="0" sz="3200" spc="-10">
                <a:solidFill>
                  <a:srgbClr val="0F0F0F"/>
                </a:solidFill>
                <a:latin typeface="Tahoma"/>
                <a:cs typeface="Tahoma"/>
              </a:rPr>
              <a:t>Improve</a:t>
            </a:r>
            <a:r>
              <a:rPr dirty="0" sz="3200" spc="-2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70">
                <a:solidFill>
                  <a:srgbClr val="0F0F0F"/>
                </a:solidFill>
                <a:latin typeface="Tahoma"/>
                <a:cs typeface="Tahoma"/>
              </a:rPr>
              <a:t>SEO</a:t>
            </a:r>
            <a:r>
              <a:rPr dirty="0" sz="3200" spc="-2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>
                <a:solidFill>
                  <a:srgbClr val="0F0F0F"/>
                </a:solidFill>
                <a:latin typeface="Tahoma"/>
                <a:cs typeface="Tahoma"/>
              </a:rPr>
              <a:t>to</a:t>
            </a:r>
            <a:r>
              <a:rPr dirty="0" sz="3200" spc="-28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45">
                <a:solidFill>
                  <a:srgbClr val="0F0F0F"/>
                </a:solidFill>
                <a:latin typeface="Tahoma"/>
                <a:cs typeface="Tahoma"/>
              </a:rPr>
              <a:t>increase</a:t>
            </a:r>
            <a:r>
              <a:rPr dirty="0" sz="3200" spc="-2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60">
                <a:solidFill>
                  <a:srgbClr val="0F0F0F"/>
                </a:solidFill>
                <a:latin typeface="Tahoma"/>
                <a:cs typeface="Tahoma"/>
              </a:rPr>
              <a:t>organic </a:t>
            </a:r>
            <a:r>
              <a:rPr dirty="0" sz="3200" spc="6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200" spc="-10">
                <a:solidFill>
                  <a:srgbClr val="0F0F0F"/>
                </a:solidFill>
                <a:latin typeface="Tahoma"/>
                <a:cs typeface="Tahoma"/>
              </a:rPr>
              <a:t>traffic</a:t>
            </a:r>
            <a:endParaRPr sz="3200">
              <a:latin typeface="Tahoma"/>
              <a:cs typeface="Tahoma"/>
            </a:endParaRPr>
          </a:p>
          <a:p>
            <a:pPr marL="247015" marR="1037590" indent="-234950">
              <a:lnSpc>
                <a:spcPct val="115199"/>
              </a:lnSpc>
              <a:buChar char="•"/>
              <a:tabLst>
                <a:tab pos="275590" algn="l"/>
              </a:tabLst>
            </a:pPr>
            <a:r>
              <a:rPr dirty="0" sz="3200" spc="55">
                <a:solidFill>
                  <a:srgbClr val="0F0F0F"/>
                </a:solidFill>
                <a:latin typeface="Tahoma"/>
                <a:cs typeface="Tahoma"/>
              </a:rPr>
              <a:t>Run</a:t>
            </a:r>
            <a:r>
              <a:rPr dirty="0" sz="3200" spc="-28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-30">
                <a:solidFill>
                  <a:srgbClr val="0F0F0F"/>
                </a:solidFill>
                <a:latin typeface="Tahoma"/>
                <a:cs typeface="Tahoma"/>
              </a:rPr>
              <a:t>Instagram</a:t>
            </a:r>
            <a:r>
              <a:rPr dirty="0" sz="3200" spc="-28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75">
                <a:solidFill>
                  <a:srgbClr val="0F0F0F"/>
                </a:solidFill>
                <a:latin typeface="Tahoma"/>
                <a:cs typeface="Tahoma"/>
              </a:rPr>
              <a:t>ads</a:t>
            </a:r>
            <a:r>
              <a:rPr dirty="0" sz="3200" spc="-28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-40">
                <a:solidFill>
                  <a:srgbClr val="0F0F0F"/>
                </a:solidFill>
                <a:latin typeface="Tahoma"/>
                <a:cs typeface="Tahoma"/>
              </a:rPr>
              <a:t>for</a:t>
            </a:r>
            <a:r>
              <a:rPr dirty="0" sz="3200" spc="-28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50">
                <a:solidFill>
                  <a:srgbClr val="0F0F0F"/>
                </a:solidFill>
                <a:latin typeface="Tahoma"/>
                <a:cs typeface="Tahoma"/>
              </a:rPr>
              <a:t>brand </a:t>
            </a:r>
            <a:r>
              <a:rPr dirty="0" sz="3200" spc="5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200" spc="-10">
                <a:solidFill>
                  <a:srgbClr val="0F0F0F"/>
                </a:solidFill>
                <a:latin typeface="Tahoma"/>
                <a:cs typeface="Tahoma"/>
              </a:rPr>
              <a:t>awareness</a:t>
            </a:r>
            <a:endParaRPr sz="3200">
              <a:latin typeface="Tahoma"/>
              <a:cs typeface="Tahoma"/>
            </a:endParaRPr>
          </a:p>
          <a:p>
            <a:pPr marL="247650" indent="-234950">
              <a:lnSpc>
                <a:spcPct val="100000"/>
              </a:lnSpc>
              <a:spcBef>
                <a:spcPts val="585"/>
              </a:spcBef>
              <a:buChar char="•"/>
              <a:tabLst>
                <a:tab pos="247650" algn="l"/>
              </a:tabLst>
            </a:pPr>
            <a:r>
              <a:rPr dirty="0" sz="3200">
                <a:solidFill>
                  <a:srgbClr val="0F0F0F"/>
                </a:solidFill>
                <a:latin typeface="Tahoma"/>
                <a:cs typeface="Tahoma"/>
              </a:rPr>
              <a:t>Optimize</a:t>
            </a:r>
            <a:r>
              <a:rPr dirty="0" sz="3200" spc="-16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70">
                <a:solidFill>
                  <a:srgbClr val="0F0F0F"/>
                </a:solidFill>
                <a:latin typeface="Tahoma"/>
                <a:cs typeface="Tahoma"/>
              </a:rPr>
              <a:t>mobile</a:t>
            </a:r>
            <a:r>
              <a:rPr dirty="0" sz="3200" spc="-16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>
                <a:solidFill>
                  <a:srgbClr val="0F0F0F"/>
                </a:solidFill>
                <a:latin typeface="Tahoma"/>
                <a:cs typeface="Tahoma"/>
              </a:rPr>
              <a:t>user</a:t>
            </a:r>
            <a:r>
              <a:rPr dirty="0" sz="3200" spc="-16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45">
                <a:solidFill>
                  <a:srgbClr val="0F0F0F"/>
                </a:solidFill>
                <a:latin typeface="Tahoma"/>
                <a:cs typeface="Tahoma"/>
              </a:rPr>
              <a:t>experience</a:t>
            </a:r>
            <a:endParaRPr sz="3200">
              <a:latin typeface="Tahoma"/>
              <a:cs typeface="Tahoma"/>
            </a:endParaRPr>
          </a:p>
          <a:p>
            <a:pPr marL="247015" marR="5080" indent="-234950">
              <a:lnSpc>
                <a:spcPct val="115199"/>
              </a:lnSpc>
              <a:spcBef>
                <a:spcPts val="5"/>
              </a:spcBef>
              <a:buChar char="•"/>
              <a:tabLst>
                <a:tab pos="275590" algn="l"/>
              </a:tabLst>
            </a:pPr>
            <a:r>
              <a:rPr dirty="0" sz="3200" spc="-10">
                <a:solidFill>
                  <a:srgbClr val="0F0F0F"/>
                </a:solidFill>
                <a:latin typeface="Tahoma"/>
                <a:cs typeface="Tahoma"/>
              </a:rPr>
              <a:t>Improve</a:t>
            </a:r>
            <a:r>
              <a:rPr dirty="0" sz="3200" spc="-30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80">
                <a:solidFill>
                  <a:srgbClr val="0F0F0F"/>
                </a:solidFill>
                <a:latin typeface="Tahoma"/>
                <a:cs typeface="Tahoma"/>
              </a:rPr>
              <a:t>product</a:t>
            </a:r>
            <a:r>
              <a:rPr dirty="0" sz="3200" spc="-29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60">
                <a:solidFill>
                  <a:srgbClr val="0F0F0F"/>
                </a:solidFill>
                <a:latin typeface="Tahoma"/>
                <a:cs typeface="Tahoma"/>
              </a:rPr>
              <a:t>descriptions</a:t>
            </a:r>
            <a:r>
              <a:rPr dirty="0" sz="3200" spc="-30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70">
                <a:solidFill>
                  <a:srgbClr val="0F0F0F"/>
                </a:solidFill>
                <a:latin typeface="Tahoma"/>
                <a:cs typeface="Tahoma"/>
              </a:rPr>
              <a:t>and </a:t>
            </a:r>
            <a:r>
              <a:rPr dirty="0" sz="3200" spc="70">
                <a:solidFill>
                  <a:srgbClr val="0F0F0F"/>
                </a:solidFill>
                <a:latin typeface="Tahoma"/>
                <a:cs typeface="Tahoma"/>
              </a:rPr>
              <a:t>	</a:t>
            </a:r>
            <a:r>
              <a:rPr dirty="0" sz="3200" spc="40">
                <a:solidFill>
                  <a:srgbClr val="0F0F0F"/>
                </a:solidFill>
                <a:latin typeface="Tahoma"/>
                <a:cs typeface="Tahoma"/>
              </a:rPr>
              <a:t>images</a:t>
            </a:r>
            <a:endParaRPr sz="3200">
              <a:latin typeface="Tahoma"/>
              <a:cs typeface="Tahoma"/>
            </a:endParaRPr>
          </a:p>
          <a:p>
            <a:pPr marL="247650" indent="-234950">
              <a:lnSpc>
                <a:spcPct val="100000"/>
              </a:lnSpc>
              <a:spcBef>
                <a:spcPts val="585"/>
              </a:spcBef>
              <a:buChar char="•"/>
              <a:tabLst>
                <a:tab pos="247650" algn="l"/>
              </a:tabLst>
            </a:pPr>
            <a:r>
              <a:rPr dirty="0" sz="3200" spc="150">
                <a:solidFill>
                  <a:srgbClr val="0F0F0F"/>
                </a:solidFill>
                <a:latin typeface="Tahoma"/>
                <a:cs typeface="Tahoma"/>
              </a:rPr>
              <a:t>Add</a:t>
            </a:r>
            <a:r>
              <a:rPr dirty="0" sz="3200" spc="-2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-25">
                <a:solidFill>
                  <a:srgbClr val="0F0F0F"/>
                </a:solidFill>
                <a:latin typeface="Tahoma"/>
                <a:cs typeface="Tahoma"/>
              </a:rPr>
              <a:t>offers</a:t>
            </a:r>
            <a:r>
              <a:rPr dirty="0" sz="3200" spc="-290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95">
                <a:solidFill>
                  <a:srgbClr val="0F0F0F"/>
                </a:solidFill>
                <a:latin typeface="Tahoma"/>
                <a:cs typeface="Tahoma"/>
              </a:rPr>
              <a:t>and</a:t>
            </a:r>
            <a:r>
              <a:rPr dirty="0" sz="3200" spc="-285">
                <a:solidFill>
                  <a:srgbClr val="0F0F0F"/>
                </a:solidFill>
                <a:latin typeface="Tahoma"/>
                <a:cs typeface="Tahoma"/>
              </a:rPr>
              <a:t> </a:t>
            </a:r>
            <a:r>
              <a:rPr dirty="0" sz="3200" spc="65">
                <a:solidFill>
                  <a:srgbClr val="0F0F0F"/>
                </a:solidFill>
                <a:latin typeface="Tahoma"/>
                <a:cs typeface="Tahoma"/>
              </a:rPr>
              <a:t>discounts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30512" y="1819546"/>
            <a:ext cx="5821680" cy="8794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114">
                <a:solidFill>
                  <a:srgbClr val="0F0F0F"/>
                </a:solidFill>
              </a:rPr>
              <a:t>Improvements</a:t>
            </a:r>
            <a:r>
              <a:rPr dirty="0" sz="5600" spc="-430">
                <a:solidFill>
                  <a:srgbClr val="0F0F0F"/>
                </a:solidFill>
              </a:rPr>
              <a:t> </a:t>
            </a:r>
            <a:r>
              <a:rPr dirty="0" sz="5600" spc="-360">
                <a:solidFill>
                  <a:srgbClr val="0F0F0F"/>
                </a:solidFill>
              </a:rPr>
              <a:t>&amp;</a:t>
            </a:r>
            <a:endParaRPr sz="5600"/>
          </a:p>
        </p:txBody>
      </p:sp>
      <p:sp>
        <p:nvSpPr>
          <p:cNvPr id="7" name="object 7"/>
          <p:cNvSpPr txBox="1"/>
          <p:nvPr/>
        </p:nvSpPr>
        <p:spPr>
          <a:xfrm>
            <a:off x="1230512" y="2381521"/>
            <a:ext cx="668909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600" spc="-10" b="1">
                <a:solidFill>
                  <a:srgbClr val="0F0F0F"/>
                </a:solidFill>
                <a:latin typeface="Tahoma"/>
                <a:cs typeface="Tahoma"/>
              </a:rPr>
              <a:t>Recommendations</a:t>
            </a:r>
            <a:endParaRPr sz="56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39674" y="3258519"/>
            <a:ext cx="6867525" cy="5080"/>
          </a:xfrm>
          <a:custGeom>
            <a:avLst/>
            <a:gdLst/>
            <a:ahLst/>
            <a:cxnLst/>
            <a:rect l="l" t="t" r="r" b="b"/>
            <a:pathLst>
              <a:path w="6867525" h="5079">
                <a:moveTo>
                  <a:pt x="0" y="0"/>
                </a:moveTo>
                <a:lnTo>
                  <a:pt x="6867103" y="4762"/>
                </a:lnTo>
              </a:path>
            </a:pathLst>
          </a:custGeom>
          <a:ln w="9525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0"/>
            <a:ext cx="858519" cy="1166495"/>
          </a:xfrm>
          <a:custGeom>
            <a:avLst/>
            <a:gdLst/>
            <a:ahLst/>
            <a:cxnLst/>
            <a:rect l="l" t="t" r="r" b="b"/>
            <a:pathLst>
              <a:path w="858519" h="1166495">
                <a:moveTo>
                  <a:pt x="0" y="1166260"/>
                </a:moveTo>
                <a:lnTo>
                  <a:pt x="0" y="0"/>
                </a:lnTo>
                <a:lnTo>
                  <a:pt x="858070" y="582207"/>
                </a:lnTo>
                <a:lnTo>
                  <a:pt x="858070" y="584052"/>
                </a:lnTo>
                <a:lnTo>
                  <a:pt x="0" y="1166260"/>
                </a:lnTo>
                <a:close/>
              </a:path>
            </a:pathLst>
          </a:custGeom>
          <a:solidFill>
            <a:srgbClr val="2A2A2A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5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87356" y="2176542"/>
            <a:ext cx="15113635" cy="1301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93165" marR="5080" indent="-1181100">
              <a:lnSpc>
                <a:spcPct val="116300"/>
              </a:lnSpc>
              <a:spcBef>
                <a:spcPts val="100"/>
              </a:spcBef>
            </a:pPr>
            <a:r>
              <a:rPr dirty="0" sz="3600" spc="-60" b="1">
                <a:solidFill>
                  <a:srgbClr val="F4F4F4"/>
                </a:solidFill>
                <a:latin typeface="Tahoma"/>
                <a:cs typeface="Tahoma"/>
              </a:rPr>
              <a:t>The</a:t>
            </a:r>
            <a:r>
              <a:rPr dirty="0" sz="3600" spc="-310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20" b="1">
                <a:solidFill>
                  <a:srgbClr val="F4F4F4"/>
                </a:solidFill>
                <a:latin typeface="Tahoma"/>
                <a:cs typeface="Tahoma"/>
              </a:rPr>
              <a:t>project</a:t>
            </a:r>
            <a:r>
              <a:rPr dirty="0" sz="3600" spc="-30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20" b="1">
                <a:solidFill>
                  <a:srgbClr val="F4F4F4"/>
                </a:solidFill>
                <a:latin typeface="Tahoma"/>
                <a:cs typeface="Tahoma"/>
              </a:rPr>
              <a:t>demonstrates</a:t>
            </a:r>
            <a:r>
              <a:rPr dirty="0" sz="3600" spc="-30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50" b="1">
                <a:solidFill>
                  <a:srgbClr val="F4F4F4"/>
                </a:solidFill>
                <a:latin typeface="Tahoma"/>
                <a:cs typeface="Tahoma"/>
              </a:rPr>
              <a:t>basic</a:t>
            </a:r>
            <a:r>
              <a:rPr dirty="0" sz="3600" spc="-30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40" b="1">
                <a:solidFill>
                  <a:srgbClr val="F4F4F4"/>
                </a:solidFill>
                <a:latin typeface="Tahoma"/>
                <a:cs typeface="Tahoma"/>
              </a:rPr>
              <a:t>traffic</a:t>
            </a:r>
            <a:r>
              <a:rPr dirty="0" sz="3600" spc="-30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05" b="1">
                <a:solidFill>
                  <a:srgbClr val="F4F4F4"/>
                </a:solidFill>
                <a:latin typeface="Tahoma"/>
                <a:cs typeface="Tahoma"/>
              </a:rPr>
              <a:t>analysis</a:t>
            </a:r>
            <a:r>
              <a:rPr dirty="0" sz="3600" spc="-30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75" b="1">
                <a:solidFill>
                  <a:srgbClr val="F4F4F4"/>
                </a:solidFill>
                <a:latin typeface="Tahoma"/>
                <a:cs typeface="Tahoma"/>
              </a:rPr>
              <a:t>using</a:t>
            </a:r>
            <a:r>
              <a:rPr dirty="0" sz="3600" spc="-30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55" b="1">
                <a:solidFill>
                  <a:srgbClr val="F4F4F4"/>
                </a:solidFill>
                <a:latin typeface="Tahoma"/>
                <a:cs typeface="Tahoma"/>
              </a:rPr>
              <a:t>Google</a:t>
            </a:r>
            <a:r>
              <a:rPr dirty="0" sz="3600" spc="-30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0" b="1">
                <a:solidFill>
                  <a:srgbClr val="F4F4F4"/>
                </a:solidFill>
                <a:latin typeface="Tahoma"/>
                <a:cs typeface="Tahoma"/>
              </a:rPr>
              <a:t>Analytics </a:t>
            </a:r>
            <a:r>
              <a:rPr dirty="0" sz="3600" spc="-60" b="1">
                <a:solidFill>
                  <a:srgbClr val="F4F4F4"/>
                </a:solidFill>
                <a:latin typeface="Tahoma"/>
                <a:cs typeface="Tahoma"/>
              </a:rPr>
              <a:t>and</a:t>
            </a:r>
            <a:r>
              <a:rPr dirty="0" sz="3600" spc="-320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75" b="1">
                <a:solidFill>
                  <a:srgbClr val="F4F4F4"/>
                </a:solidFill>
                <a:latin typeface="Tahoma"/>
                <a:cs typeface="Tahoma"/>
              </a:rPr>
              <a:t>provides</a:t>
            </a:r>
            <a:r>
              <a:rPr dirty="0" sz="3600" spc="-31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00" b="1">
                <a:solidFill>
                  <a:srgbClr val="F4F4F4"/>
                </a:solidFill>
                <a:latin typeface="Tahoma"/>
                <a:cs typeface="Tahoma"/>
              </a:rPr>
              <a:t>insights</a:t>
            </a:r>
            <a:r>
              <a:rPr dirty="0" sz="3600" spc="-31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30" b="1">
                <a:solidFill>
                  <a:srgbClr val="F4F4F4"/>
                </a:solidFill>
                <a:latin typeface="Tahoma"/>
                <a:cs typeface="Tahoma"/>
              </a:rPr>
              <a:t>into</a:t>
            </a:r>
            <a:r>
              <a:rPr dirty="0" sz="3600" spc="-31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95" b="1">
                <a:solidFill>
                  <a:srgbClr val="F4F4F4"/>
                </a:solidFill>
                <a:latin typeface="Tahoma"/>
                <a:cs typeface="Tahoma"/>
              </a:rPr>
              <a:t>improving</a:t>
            </a:r>
            <a:r>
              <a:rPr dirty="0" sz="3600" spc="-31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20" b="1">
                <a:solidFill>
                  <a:srgbClr val="F4F4F4"/>
                </a:solidFill>
                <a:latin typeface="Tahoma"/>
                <a:cs typeface="Tahoma"/>
              </a:rPr>
              <a:t>website</a:t>
            </a:r>
            <a:r>
              <a:rPr dirty="0" sz="3600" spc="-315" b="1">
                <a:solidFill>
                  <a:srgbClr val="F4F4F4"/>
                </a:solidFill>
                <a:latin typeface="Tahoma"/>
                <a:cs typeface="Tahoma"/>
              </a:rPr>
              <a:t> </a:t>
            </a:r>
            <a:r>
              <a:rPr dirty="0" sz="3600" spc="-10" b="1">
                <a:solidFill>
                  <a:srgbClr val="F4F4F4"/>
                </a:solidFill>
                <a:latin typeface="Tahoma"/>
                <a:cs typeface="Tahoma"/>
              </a:rPr>
              <a:t>performance.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92641" y="4759059"/>
            <a:ext cx="2649855" cy="2713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0380" marR="5080" indent="-488315">
              <a:lnSpc>
                <a:spcPct val="132600"/>
              </a:lnSpc>
              <a:spcBef>
                <a:spcPts val="100"/>
              </a:spcBef>
            </a:pPr>
            <a:r>
              <a:rPr dirty="0" sz="6650" spc="-10" b="1">
                <a:solidFill>
                  <a:srgbClr val="F4F4F4"/>
                </a:solidFill>
                <a:latin typeface="Tahoma"/>
                <a:cs typeface="Tahoma"/>
              </a:rPr>
              <a:t>Thank </a:t>
            </a:r>
            <a:r>
              <a:rPr dirty="0" sz="6650" spc="-25" b="1">
                <a:solidFill>
                  <a:srgbClr val="F4F4F4"/>
                </a:solidFill>
                <a:latin typeface="Tahoma"/>
                <a:cs typeface="Tahoma"/>
              </a:rPr>
              <a:t>YOU</a:t>
            </a:r>
            <a:endParaRPr sz="66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ayyanar</dc:creator>
  <cp:keywords>DAHLrlM9gG8,BAHHxZk70tA,0</cp:keywords>
  <dc:title>Black and White Minimalist Creative Portfolio Presentation</dc:title>
  <dcterms:created xsi:type="dcterms:W3CDTF">2026-06-11T18:02:02Z</dcterms:created>
  <dcterms:modified xsi:type="dcterms:W3CDTF">2026-06-11T18:02:02Z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2026-06-05T00:00:00Z</vt:filetime>
  </property>
  <property fmtid="{D5CDD505-2E9C-101B-9397-08002B2CF9AE}" pid="4" name="Creator">
    <vt:lpwstr>Canva</vt:lpwstr>
  </property>
  <property fmtid="{D5CDD505-2E9C-101B-9397-08002B2CF9AE}" pid="5" name="LastSaved">
    <vt:filetime>2026-06-11T00:00:00Z</vt:filetime>
  </property>
  <property fmtid="{D5CDD505-2E9C-101B-9397-08002B2CF9AE}" pid="6" name="Producer">
    <vt:lpwstr>Canva</vt:lpwstr>
  </property>
</Properties>
</file>